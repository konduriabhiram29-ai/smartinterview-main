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5e291e3a474837" /><Relationship Type="http://schemas.openxmlformats.org/officeDocument/2006/relationships/extended-properties" Target="/docProps/app.xml" Id="R1a5c4cfa354c46e5" /><Relationship Type="http://schemas.openxmlformats.org/officeDocument/2006/relationships/officeDocument" Target="/ppt/presentation.xml" Id="R3dea78397b5f4d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1b7f024e32483b"/>
  </p:sldMasterIdLst>
  <p:notesMasterIdLst>
    <p:notesMasterId xmlns:r="http://schemas.openxmlformats.org/officeDocument/2006/relationships" r:id="Rfa26b038f6f747b2"/>
  </p:notesMasterIdLst>
  <p:sldIdLst>
    <p:sldId xmlns:r="http://schemas.openxmlformats.org/officeDocument/2006/relationships" id="256" r:id="R3ed24b3b87c44954"/>
    <p:sldId xmlns:r="http://schemas.openxmlformats.org/officeDocument/2006/relationships" id="257" r:id="R6a903731bc654e94"/>
    <p:sldId xmlns:r="http://schemas.openxmlformats.org/officeDocument/2006/relationships" id="258" r:id="Ra36a9b30fba54b27"/>
    <p:sldId xmlns:r="http://schemas.openxmlformats.org/officeDocument/2006/relationships" id="259" r:id="Rd2b7e59ed1ba4f85"/>
    <p:sldId xmlns:r="http://schemas.openxmlformats.org/officeDocument/2006/relationships" id="260" r:id="R459c2cdaf20b4225"/>
    <p:sldId xmlns:r="http://schemas.openxmlformats.org/officeDocument/2006/relationships" id="261" r:id="R0a0d3364c9e74fee"/>
    <p:sldId xmlns:r="http://schemas.openxmlformats.org/officeDocument/2006/relationships" id="262" r:id="Racc530a4780d4d9e"/>
    <p:sldId xmlns:r="http://schemas.openxmlformats.org/officeDocument/2006/relationships" id="263" r:id="R7211c7a111644cfd"/>
    <p:sldId xmlns:r="http://schemas.openxmlformats.org/officeDocument/2006/relationships" id="264" r:id="Rfd4ba2c9600a49c7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26c1269e384847" /><Relationship Type="http://schemas.openxmlformats.org/officeDocument/2006/relationships/slideMaster" Target="/ppt/slideMasters/slideMaster1.xml" Id="Rd11b7f024e32483b" /><Relationship Type="http://schemas.openxmlformats.org/officeDocument/2006/relationships/notesMaster" Target="/ppt/notesMasters/notesMaster1.xml" Id="Rfa26b038f6f747b2" /><Relationship Type="http://schemas.openxmlformats.org/officeDocument/2006/relationships/presProps" Target="/ppt/presProps.xml" Id="Ra16f362bce164560" /><Relationship Type="http://schemas.openxmlformats.org/officeDocument/2006/relationships/viewProps" Target="/ppt/viewProps.xml" Id="R5105bfe66bce4f54" /><Relationship Type="http://schemas.openxmlformats.org/officeDocument/2006/relationships/tableStyles" Target="/ppt/tableStyles.xml" Id="Rdd289e379f1748c9" /><Relationship Type="http://schemas.openxmlformats.org/officeDocument/2006/relationships/slide" Target="/ppt/slides/slide1.xml" Id="R3ed24b3b87c44954" /><Relationship Type="http://schemas.openxmlformats.org/officeDocument/2006/relationships/slide" Target="/ppt/slides/slide2.xml" Id="R6a903731bc654e94" /><Relationship Type="http://schemas.openxmlformats.org/officeDocument/2006/relationships/slide" Target="/ppt/slides/slide3.xml" Id="Ra36a9b30fba54b27" /><Relationship Type="http://schemas.openxmlformats.org/officeDocument/2006/relationships/slide" Target="/ppt/slides/slide4.xml" Id="Rd2b7e59ed1ba4f85" /><Relationship Type="http://schemas.openxmlformats.org/officeDocument/2006/relationships/slide" Target="/ppt/slides/slide5.xml" Id="R459c2cdaf20b4225" /><Relationship Type="http://schemas.openxmlformats.org/officeDocument/2006/relationships/slide" Target="/ppt/slides/slide6.xml" Id="R0a0d3364c9e74fee" /><Relationship Type="http://schemas.openxmlformats.org/officeDocument/2006/relationships/slide" Target="/ppt/slides/slide7.xml" Id="Racc530a4780d4d9e" /><Relationship Type="http://schemas.openxmlformats.org/officeDocument/2006/relationships/slide" Target="/ppt/slides/slide8.xml" Id="R7211c7a111644cfd" /><Relationship Type="http://schemas.openxmlformats.org/officeDocument/2006/relationships/slide" Target="/ppt/slides/slide9.xml" Id="Rfd4ba2c9600a49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463eee3669c436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7f81a473364e93" /><Relationship Type="http://schemas.openxmlformats.org/officeDocument/2006/relationships/notesMaster" Target="/ppt/notesMasters/notesMaster1.xml" Id="Ra125b768d44747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d9a0037578f481c" /><Relationship Type="http://schemas.openxmlformats.org/officeDocument/2006/relationships/notesMaster" Target="/ppt/notesMasters/notesMaster1.xml" Id="R6bf4cdbefbdc4cb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f8e375609c44e77" /><Relationship Type="http://schemas.openxmlformats.org/officeDocument/2006/relationships/notesMaster" Target="/ppt/notesMasters/notesMaster1.xml" Id="R8a1b8c3e0c2f449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9933dd78684da0" /><Relationship Type="http://schemas.openxmlformats.org/officeDocument/2006/relationships/notesMaster" Target="/ppt/notesMasters/notesMaster1.xml" Id="Ra17f7291acb0488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b377d455b5445b3" /><Relationship Type="http://schemas.openxmlformats.org/officeDocument/2006/relationships/notesMaster" Target="/ppt/notesMasters/notesMaster1.xml" Id="R54bcac21e05d4a5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685e7d13c874187" /><Relationship Type="http://schemas.openxmlformats.org/officeDocument/2006/relationships/notesMaster" Target="/ppt/notesMasters/notesMaster1.xml" Id="R7f9927bbd93a47d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373938fe1904bda" /><Relationship Type="http://schemas.openxmlformats.org/officeDocument/2006/relationships/notesMaster" Target="/ppt/notesMasters/notesMaster1.xml" Id="R27d09a10e2414eb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5b423080b3345eb" /><Relationship Type="http://schemas.openxmlformats.org/officeDocument/2006/relationships/notesMaster" Target="/ppt/notesMasters/notesMaster1.xml" Id="R7849ce814d6a433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82ab4214ba24947" /><Relationship Type="http://schemas.openxmlformats.org/officeDocument/2006/relationships/notesMaster" Target="/ppt/notesMasters/notesMaster1.xml" Id="R85dcf282b7dc43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Template title slide retained. Team and mentor details were not supplied beyond the repository identities, so this slide states only source-grounded information.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structure preserved: 9 final slides, with six content slides between Contents and Thank You.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BASE PAPER-INTERVIEW.pdf and BASE PAPER-INTERVIEW2.pdf; current repository README.md, backend/requirements.txt, and frontend/package.json.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evidence: frontend/src/pages/ResumeUpload.jsx, SyllabusUpload.jsx, Interview.jsx, Results.jsx; backend/app/routers and services.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evidence: frontend/src/App.jsx; backend/app/main.py; backend/app/services/question_service.py; evaluation_service.py; syllabus_rag_service.py; models and setup_database.sql.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evidence: backend/app/services/syllabus_rag_service.py, question_service.py, adaptive_engine.py, evaluation_service.py, interview_service.py. Pipeline labels reflect source code: 1,000-character chunks, 200-character overlap, top 3 retrieval, SHA-256 exact deduplication, and distance &lt;0.10 semantic filtering.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evidence: current repository source. Challenges are grounded in backend/app/services/interview_service.py, question_service.py, voice_service.py, and the absence of test files. Do not present base-paper results as SmartInterview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current repository architecture and supplied base papers. Demo and publication statements are deliberately limited to evidence found in the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Thank-you slide retained from the template structure.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95543d7bff40d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233c5c58484c4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a244a8150a47c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3512d94bbe429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90579dd5aa4cd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7bc2df1beb473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1fc10620fb449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7bbe52558d428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6a81f570904ee0" /></Relationships>
</file>

<file path=ppt/slideLayouts/slideLayout1.xml><?xml version="1.0" encoding="utf-8"?>
<p:sldLayout xmlns:p="http://schemas.openxmlformats.org/presentationml/2006/main" matchingName="Title Slide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 Shape;12;p5">
            <a:extLst xmlns:a="http://schemas.openxmlformats.org/drawingml/2006/main">
              <a:ext uri="{FF2B5EF4-FFF2-40B4-BE49-F238E27FC236}">
                <a16:creationId xmlns:a16="http://schemas.microsoft.com/office/drawing/2014/main" id="{BCD43A6B-F29D-4A09-8FBC-93546C4345A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14400" y="2130429"/>
            <a:ext cx="10363200" cy="147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1025" tIns="40500" rIns="81025" bIns="405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3" name="Google Shape;13;p5">
            <a:extLst xmlns:a="http://schemas.openxmlformats.org/drawingml/2006/main">
              <a:ext uri="{FF2B5EF4-FFF2-40B4-BE49-F238E27FC236}">
                <a16:creationId xmlns:a16="http://schemas.microsoft.com/office/drawing/2014/main" id="{7BAA2DB9-E405-4F06-AD6A-B3D328E09C8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886200"/>
            <a:ext cx="85344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1025" tIns="40500" rIns="81025" bIns="40500" anchor="t">
            <a:normAutofit/>
          </a:bodyPr>
          <a:lstStyle xmlns:a="http://schemas.openxmlformats.org/drawingml/2006/main">
            <a:lvl1pPr algn="ctr">
              <a:spcBef>
                <a:spcPts val="672"/>
              </a:spcBef>
              <a:spcAft>
                <a:spcPts val="0"/>
              </a:spcAft>
              <a:buClr>
                <a:srgbClr val="888888"/>
              </a:buClr>
              <a:buSzPts val="3360"/>
              <a:buNone/>
              <a:defRPr>
                <a:solidFill>
                  <a:srgbClr val="888888"/>
                </a:solidFill>
              </a:defRPr>
            </a:lvl1pPr>
            <a:lvl2pPr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000"/>
              <a:buNone/>
              <a:defRPr>
                <a:solidFill>
                  <a:srgbClr val="888888"/>
                </a:solidFill>
              </a:defRPr>
            </a:lvl2pPr>
            <a:lvl3pPr algn="ctr">
              <a:spcBef>
                <a:spcPts val="504"/>
              </a:spcBef>
              <a:spcAft>
                <a:spcPts val="0"/>
              </a:spcAft>
              <a:buClr>
                <a:srgbClr val="888888"/>
              </a:buClr>
              <a:buSzPts val="2520"/>
              <a:buNone/>
              <a:defRPr>
                <a:solidFill>
                  <a:srgbClr val="888888"/>
                </a:solidFill>
              </a:defRPr>
            </a:lvl3pPr>
            <a:lvl4pPr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4pPr>
            <a:lvl5pPr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5pPr>
            <a:lvl6pPr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6pPr>
            <a:lvl7pPr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7pPr>
            <a:lvl8pPr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8pPr>
            <a:lvl9pPr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4" name="Google Shape;14;p5">
            <a:extLst xmlns:a="http://schemas.openxmlformats.org/drawingml/2006/main">
              <a:ext uri="{FF2B5EF4-FFF2-40B4-BE49-F238E27FC236}">
                <a16:creationId xmlns:a16="http://schemas.microsoft.com/office/drawing/2014/main" id="{A60F55D8-7BD1-4E34-9C16-96D56F4B07C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09600" y="6356355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1025" tIns="40500" rIns="81025" bIns="405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5" name="Google Shape;15;p5">
            <a:extLst xmlns:a="http://schemas.openxmlformats.org/drawingml/2006/main">
              <a:ext uri="{FF2B5EF4-FFF2-40B4-BE49-F238E27FC236}">
                <a16:creationId xmlns:a16="http://schemas.microsoft.com/office/drawing/2014/main" id="{B15E3C4B-B298-4EC2-AB64-DA76447A754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65600" y="6356355"/>
            <a:ext cx="3860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1025" tIns="40500" rIns="81025" bIns="405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6" name="Google Shape;16;p5">
            <a:extLst xmlns:a="http://schemas.openxmlformats.org/drawingml/2006/main">
              <a:ext uri="{FF2B5EF4-FFF2-40B4-BE49-F238E27FC236}">
                <a16:creationId xmlns:a16="http://schemas.microsoft.com/office/drawing/2014/main" id="{A2CA8B41-6EBF-4F61-859A-D46DB51B28C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737600" y="6356355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1025" tIns="40500" rIns="81025" bIns="405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Section Header" type="secHead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Google Shape;24;p7">
            <a:extLst xmlns:a="http://schemas.openxmlformats.org/drawingml/2006/main">
              <a:ext uri="{FF2B5EF4-FFF2-40B4-BE49-F238E27FC236}">
                <a16:creationId xmlns:a16="http://schemas.microsoft.com/office/drawing/2014/main" id="{8AC05493-8AF3-478B-B873-E6A7B10AE8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3084" y="4406902"/>
            <a:ext cx="10363200" cy="1362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1025" tIns="40500" rIns="81025" bIns="40500" anchor="t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  <a:defRPr sz="4200" b="1" cap="none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5" name="Google Shape;25;p7">
            <a:extLst xmlns:a="http://schemas.openxmlformats.org/drawingml/2006/main">
              <a:ext uri="{FF2B5EF4-FFF2-40B4-BE49-F238E27FC236}">
                <a16:creationId xmlns:a16="http://schemas.microsoft.com/office/drawing/2014/main" id="{CB4EBA50-A74F-4F7C-B9E4-46F7BEE6CC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3084" y="2906713"/>
            <a:ext cx="10363200" cy="15001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1025" tIns="40500" rIns="81025" bIns="40500" anchor="b">
            <a:normAutofit/>
          </a:bodyPr>
          <a:lstStyle xmlns:a="http://schemas.openxmlformats.org/drawingml/2006/main">
            <a:lvl1pPr marL="457200" indent="-228600" algn="l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 sz="2160">
                <a:solidFill>
                  <a:srgbClr val="888888"/>
                </a:solidFill>
              </a:defRPr>
            </a:lvl1pPr>
            <a:lvl2pPr marL="914400" indent="-228600" algn="l">
              <a:spcBef>
                <a:spcPts val="384"/>
              </a:spcBef>
              <a:spcAft>
                <a:spcPts val="0"/>
              </a:spcAft>
              <a:buClr>
                <a:srgbClr val="888888"/>
              </a:buClr>
              <a:buSzPts val="1920"/>
              <a:buNone/>
              <a:defRPr sz="1920">
                <a:solidFill>
                  <a:srgbClr val="888888"/>
                </a:solidFill>
              </a:defRPr>
            </a:lvl2pPr>
            <a:lvl3pPr marL="1371600" indent="-228600" algn="l">
              <a:spcBef>
                <a:spcPts val="336"/>
              </a:spcBef>
              <a:spcAft>
                <a:spcPts val="0"/>
              </a:spcAft>
              <a:buClr>
                <a:srgbClr val="888888"/>
              </a:buClr>
              <a:buSzPts val="1680"/>
              <a:buNone/>
              <a:defRPr sz="1679">
                <a:solidFill>
                  <a:srgbClr val="888888"/>
                </a:solidFill>
              </a:defRPr>
            </a:lvl3pPr>
            <a:lvl4pPr marL="1828800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4pPr>
            <a:lvl5pPr marL="2286000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5pPr>
            <a:lvl6pPr marL="2743200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6pPr>
            <a:lvl7pPr marL="3200400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7pPr>
            <a:lvl8pPr marL="3657600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8pPr>
            <a:lvl9pPr marL="4114800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6" name="Google Shape;26;p7">
            <a:extLst xmlns:a="http://schemas.openxmlformats.org/drawingml/2006/main">
              <a:ext uri="{FF2B5EF4-FFF2-40B4-BE49-F238E27FC236}">
                <a16:creationId xmlns:a16="http://schemas.microsoft.com/office/drawing/2014/main" id="{F97FF2FD-B98D-4E34-8DC8-F0875BB74CC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09600" y="6356355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1025" tIns="40500" rIns="81025" bIns="405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7" name="Google Shape;27;p7">
            <a:extLst xmlns:a="http://schemas.openxmlformats.org/drawingml/2006/main">
              <a:ext uri="{FF2B5EF4-FFF2-40B4-BE49-F238E27FC236}">
                <a16:creationId xmlns:a16="http://schemas.microsoft.com/office/drawing/2014/main" id="{8236EF10-769F-480C-A10C-F1C27499AA1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65600" y="6356355"/>
            <a:ext cx="3860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1025" tIns="40500" rIns="81025" bIns="405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8" name="Google Shape;28;p7">
            <a:extLst xmlns:a="http://schemas.openxmlformats.org/drawingml/2006/main">
              <a:ext uri="{FF2B5EF4-FFF2-40B4-BE49-F238E27FC236}">
                <a16:creationId xmlns:a16="http://schemas.microsoft.com/office/drawing/2014/main" id="{4296B12F-8D6A-4698-BE90-EE6D4E9464F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737600" y="6356355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1025" tIns="40500" rIns="81025" bIns="405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wo Content" type="twoObj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Google Shape;30;p8">
            <a:extLst xmlns:a="http://schemas.openxmlformats.org/drawingml/2006/main">
              <a:ext uri="{FF2B5EF4-FFF2-40B4-BE49-F238E27FC236}">
                <a16:creationId xmlns:a16="http://schemas.microsoft.com/office/drawing/2014/main" id="{D2D089B2-6944-4BF1-B458-A12BBEDB97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274638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1025" tIns="40500" rIns="81025" bIns="405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1" name="Google Shape;31;p8">
            <a:extLst xmlns:a="http://schemas.openxmlformats.org/drawingml/2006/main">
              <a:ext uri="{FF2B5EF4-FFF2-40B4-BE49-F238E27FC236}">
                <a16:creationId xmlns:a16="http://schemas.microsoft.com/office/drawing/2014/main" id="{0AD6077F-1304-4D75-8045-95190B05D5F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600203"/>
            <a:ext cx="53848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1025" tIns="40500" rIns="81025" bIns="40500" anchor="t">
            <a:normAutofit/>
          </a:bodyPr>
          <a:lstStyle xmlns:a="http://schemas.openxmlformats.org/drawingml/2006/main">
            <a:lvl1pPr marL="457200" indent="-4191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1pPr>
            <a:lvl2pPr marL="914400" indent="-388619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Char char="–"/>
              <a:defRPr sz="2520"/>
            </a:lvl2pPr>
            <a:lvl3pPr marL="1371600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3pPr>
            <a:lvl4pPr marL="1828800" indent="-350519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–"/>
              <a:defRPr sz="1920"/>
            </a:lvl4pPr>
            <a:lvl5pPr marL="2286000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»"/>
              <a:defRPr sz="1920"/>
            </a:lvl5pPr>
            <a:lvl6pPr marL="2743200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6pPr>
            <a:lvl7pPr marL="3200400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7pPr>
            <a:lvl8pPr marL="3657600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8pPr>
            <a:lvl9pPr marL="4114800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9pPr>
          </a:lstStyle>
          <a:p xmlns:a="http://schemas.openxmlformats.org/drawingml/2006/main">
            <a:endParaRPr/>
          </a:p>
        </p:txBody>
      </p:sp>
      <p:sp>
        <p:nvSpPr>
          <p:cNvPr id="32" name="Google Shape;32;p8">
            <a:extLst xmlns:a="http://schemas.openxmlformats.org/drawingml/2006/main">
              <a:ext uri="{FF2B5EF4-FFF2-40B4-BE49-F238E27FC236}">
                <a16:creationId xmlns:a16="http://schemas.microsoft.com/office/drawing/2014/main" id="{DB442137-AA03-4FC9-9004-E3A2D7E9F45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97600" y="1600203"/>
            <a:ext cx="53848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1025" tIns="40500" rIns="81025" bIns="40500" anchor="t">
            <a:normAutofit/>
          </a:bodyPr>
          <a:lstStyle xmlns:a="http://schemas.openxmlformats.org/drawingml/2006/main">
            <a:lvl1pPr marL="457200" indent="-4191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1pPr>
            <a:lvl2pPr marL="914400" indent="-388619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Char char="–"/>
              <a:defRPr sz="2520"/>
            </a:lvl2pPr>
            <a:lvl3pPr marL="1371600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3pPr>
            <a:lvl4pPr marL="1828800" indent="-350519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–"/>
              <a:defRPr sz="1920"/>
            </a:lvl4pPr>
            <a:lvl5pPr marL="2286000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»"/>
              <a:defRPr sz="1920"/>
            </a:lvl5pPr>
            <a:lvl6pPr marL="2743200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6pPr>
            <a:lvl7pPr marL="3200400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7pPr>
            <a:lvl8pPr marL="3657600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8pPr>
            <a:lvl9pPr marL="4114800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9pPr>
          </a:lstStyle>
          <a:p xmlns:a="http://schemas.openxmlformats.org/drawingml/2006/main">
            <a:endParaRPr/>
          </a:p>
        </p:txBody>
      </p:sp>
      <p:sp>
        <p:nvSpPr>
          <p:cNvPr id="33" name="Google Shape;33;p8">
            <a:extLst xmlns:a="http://schemas.openxmlformats.org/drawingml/2006/main">
              <a:ext uri="{FF2B5EF4-FFF2-40B4-BE49-F238E27FC236}">
                <a16:creationId xmlns:a16="http://schemas.microsoft.com/office/drawing/2014/main" id="{E0D90C49-56BF-4264-B823-55D06FF4511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09600" y="6356355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1025" tIns="40500" rIns="81025" bIns="405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4" name="Google Shape;34;p8">
            <a:extLst xmlns:a="http://schemas.openxmlformats.org/drawingml/2006/main">
              <a:ext uri="{FF2B5EF4-FFF2-40B4-BE49-F238E27FC236}">
                <a16:creationId xmlns:a16="http://schemas.microsoft.com/office/drawing/2014/main" id="{BC0EE5D9-290D-4389-90EE-EC16AE1FDCE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65600" y="6356355"/>
            <a:ext cx="3860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1025" tIns="40500" rIns="81025" bIns="405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5" name="Google Shape;35;p8">
            <a:extLst xmlns:a="http://schemas.openxmlformats.org/drawingml/2006/main">
              <a:ext uri="{FF2B5EF4-FFF2-40B4-BE49-F238E27FC236}">
                <a16:creationId xmlns:a16="http://schemas.microsoft.com/office/drawing/2014/main" id="{5A4F9E59-01BF-4D44-A2A0-B9CD0D2803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737600" y="6356355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1025" tIns="40500" rIns="81025" bIns="405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Comparison" type="twoTxTwoObj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Google Shape;37;p9">
            <a:extLst xmlns:a="http://schemas.openxmlformats.org/drawingml/2006/main">
              <a:ext uri="{FF2B5EF4-FFF2-40B4-BE49-F238E27FC236}">
                <a16:creationId xmlns:a16="http://schemas.microsoft.com/office/drawing/2014/main" id="{8D3F204B-26D7-4849-AEBE-5CECAFCBFA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274638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1025" tIns="40500" rIns="81025" bIns="405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80"/>
              <a:buFont typeface="Calibri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8" name="Google Shape;38;p9">
            <a:extLst xmlns:a="http://schemas.openxmlformats.org/drawingml/2006/main">
              <a:ext uri="{FF2B5EF4-FFF2-40B4-BE49-F238E27FC236}">
                <a16:creationId xmlns:a16="http://schemas.microsoft.com/office/drawing/2014/main" id="{BCFFE9BD-F174-4782-A4CF-8B2BBBB8F0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535114"/>
            <a:ext cx="5386917" cy="639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1025" tIns="40500" rIns="81025" bIns="40500" anchor="b">
            <a:normAutofit/>
          </a:bodyPr>
          <a:lstStyle xmlns:a="http://schemas.openxmlformats.org/drawingml/2006/main">
            <a:lvl1pPr marL="457200" indent="-228600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None/>
              <a:defRPr sz="2520" b="1"/>
            </a:lvl1pPr>
            <a:lvl2pPr marL="914400" indent="-22860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  <a:defRPr sz="2160" b="1"/>
            </a:lvl2pPr>
            <a:lvl3pPr marL="1371600" indent="-22860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sz="1920" b="1"/>
            </a:lvl3pPr>
            <a:lvl4pPr marL="1828800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4pPr>
            <a:lvl5pPr marL="2286000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5pPr>
            <a:lvl6pPr marL="2743200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6pPr>
            <a:lvl7pPr marL="3200400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7pPr>
            <a:lvl8pPr marL="3657600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8pPr>
            <a:lvl9pPr marL="4114800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9pPr>
          </a:lstStyle>
          <a:p xmlns:a="http://schemas.openxmlformats.org/drawingml/2006/main">
            <a:endParaRPr/>
          </a:p>
        </p:txBody>
      </p:sp>
      <p:sp>
        <p:nvSpPr>
          <p:cNvPr id="39" name="Google Shape;39;p9">
            <a:extLst xmlns:a="http://schemas.openxmlformats.org/drawingml/2006/main">
              <a:ext uri="{FF2B5EF4-FFF2-40B4-BE49-F238E27FC236}">
                <a16:creationId xmlns:a16="http://schemas.microsoft.com/office/drawing/2014/main" id="{F25BF712-4833-412B-97C6-6A3ACB96C35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0" y="2174875"/>
            <a:ext cx="5386917" cy="3951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1025" tIns="40500" rIns="81025" bIns="40500" anchor="t">
            <a:normAutofit/>
          </a:bodyPr>
          <a:lstStyle xmlns:a="http://schemas.openxmlformats.org/drawingml/2006/main">
            <a:lvl1pPr marL="457200" indent="-388620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 sz="2520"/>
            </a:lvl1pPr>
            <a:lvl2pPr marL="914400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–"/>
              <a:defRPr sz="2160"/>
            </a:lvl2pPr>
            <a:lvl3pPr marL="1371600" indent="-350519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3pPr>
            <a:lvl4pPr marL="1828800" indent="-33528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–"/>
              <a:defRPr sz="1679"/>
            </a:lvl4pPr>
            <a:lvl5pPr marL="2286000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»"/>
              <a:defRPr sz="1679"/>
            </a:lvl5pPr>
            <a:lvl6pPr marL="2743200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6pPr>
            <a:lvl7pPr marL="3200400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7pPr>
            <a:lvl8pPr marL="3657600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8pPr>
            <a:lvl9pPr marL="4114800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9pPr>
          </a:lstStyle>
          <a:p xmlns:a="http://schemas.openxmlformats.org/drawingml/2006/main">
            <a:endParaRPr/>
          </a:p>
        </p:txBody>
      </p:sp>
      <p:sp>
        <p:nvSpPr>
          <p:cNvPr id="40" name="Google Shape;40;p9">
            <a:extLst xmlns:a="http://schemas.openxmlformats.org/drawingml/2006/main">
              <a:ext uri="{FF2B5EF4-FFF2-40B4-BE49-F238E27FC236}">
                <a16:creationId xmlns:a16="http://schemas.microsoft.com/office/drawing/2014/main" id="{E0438183-CEE2-4271-8CA1-CF879F4EF4F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93370" y="1535114"/>
            <a:ext cx="5389033" cy="639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1025" tIns="40500" rIns="81025" bIns="40500" anchor="b">
            <a:normAutofit/>
          </a:bodyPr>
          <a:lstStyle xmlns:a="http://schemas.openxmlformats.org/drawingml/2006/main">
            <a:lvl1pPr marL="457200" indent="-228600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None/>
              <a:defRPr sz="2520" b="1"/>
            </a:lvl1pPr>
            <a:lvl2pPr marL="914400" indent="-22860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  <a:defRPr sz="2160" b="1"/>
            </a:lvl2pPr>
            <a:lvl3pPr marL="1371600" indent="-22860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sz="1920" b="1"/>
            </a:lvl3pPr>
            <a:lvl4pPr marL="1828800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4pPr>
            <a:lvl5pPr marL="2286000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5pPr>
            <a:lvl6pPr marL="2743200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6pPr>
            <a:lvl7pPr marL="3200400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7pPr>
            <a:lvl8pPr marL="3657600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8pPr>
            <a:lvl9pPr marL="4114800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9pPr>
          </a:lstStyle>
          <a:p xmlns:a="http://schemas.openxmlformats.org/drawingml/2006/main">
            <a:endParaRPr/>
          </a:p>
        </p:txBody>
      </p:sp>
      <p:sp>
        <p:nvSpPr>
          <p:cNvPr id="41" name="Google Shape;41;p9">
            <a:extLst xmlns:a="http://schemas.openxmlformats.org/drawingml/2006/main">
              <a:ext uri="{FF2B5EF4-FFF2-40B4-BE49-F238E27FC236}">
                <a16:creationId xmlns:a16="http://schemas.microsoft.com/office/drawing/2014/main" id="{E8C26FDF-F6DB-4EE5-B4B9-DC09ECDADB31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6193370" y="2174875"/>
            <a:ext cx="5389033" cy="3951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1025" tIns="40500" rIns="81025" bIns="40500" anchor="t">
            <a:normAutofit/>
          </a:bodyPr>
          <a:lstStyle xmlns:a="http://schemas.openxmlformats.org/drawingml/2006/main">
            <a:lvl1pPr marL="457200" indent="-388620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 sz="2520"/>
            </a:lvl1pPr>
            <a:lvl2pPr marL="914400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–"/>
              <a:defRPr sz="2160"/>
            </a:lvl2pPr>
            <a:lvl3pPr marL="1371600" indent="-350519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3pPr>
            <a:lvl4pPr marL="1828800" indent="-33528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–"/>
              <a:defRPr sz="1679"/>
            </a:lvl4pPr>
            <a:lvl5pPr marL="2286000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»"/>
              <a:defRPr sz="1679"/>
            </a:lvl5pPr>
            <a:lvl6pPr marL="2743200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6pPr>
            <a:lvl7pPr marL="3200400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7pPr>
            <a:lvl8pPr marL="3657600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8pPr>
            <a:lvl9pPr marL="4114800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9pPr>
          </a:lstStyle>
          <a:p xmlns:a="http://schemas.openxmlformats.org/drawingml/2006/main">
            <a:endParaRPr/>
          </a:p>
        </p:txBody>
      </p:sp>
      <p:sp>
        <p:nvSpPr>
          <p:cNvPr id="42" name="Google Shape;42;p9">
            <a:extLst xmlns:a="http://schemas.openxmlformats.org/drawingml/2006/main">
              <a:ext uri="{FF2B5EF4-FFF2-40B4-BE49-F238E27FC236}">
                <a16:creationId xmlns:a16="http://schemas.microsoft.com/office/drawing/2014/main" id="{B986FD31-4DFF-487B-A2D5-F59DE045F6D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09600" y="6356355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1025" tIns="40500" rIns="81025" bIns="405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3" name="Google Shape;43;p9">
            <a:extLst xmlns:a="http://schemas.openxmlformats.org/drawingml/2006/main">
              <a:ext uri="{FF2B5EF4-FFF2-40B4-BE49-F238E27FC236}">
                <a16:creationId xmlns:a16="http://schemas.microsoft.com/office/drawing/2014/main" id="{B2FD75D8-1035-47E8-972B-0F4CAB2F6F8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65600" y="6356355"/>
            <a:ext cx="3860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1025" tIns="40500" rIns="81025" bIns="405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4" name="Google Shape;44;p9">
            <a:extLst xmlns:a="http://schemas.openxmlformats.org/drawingml/2006/main">
              <a:ext uri="{FF2B5EF4-FFF2-40B4-BE49-F238E27FC236}">
                <a16:creationId xmlns:a16="http://schemas.microsoft.com/office/drawing/2014/main" id="{6F265288-755A-4CC0-9590-69B6BFD26D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737600" y="6356355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1025" tIns="40500" rIns="81025" bIns="405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Google Shape;51;p11">
            <a:extLst xmlns:a="http://schemas.openxmlformats.org/drawingml/2006/main">
              <a:ext uri="{FF2B5EF4-FFF2-40B4-BE49-F238E27FC236}">
                <a16:creationId xmlns:a16="http://schemas.microsoft.com/office/drawing/2014/main" id="{39BA8A4F-6F30-4FAF-AC7E-E748D988AB3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09600" y="6356355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1025" tIns="40500" rIns="81025" bIns="405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2" name="Google Shape;52;p11">
            <a:extLst xmlns:a="http://schemas.openxmlformats.org/drawingml/2006/main">
              <a:ext uri="{FF2B5EF4-FFF2-40B4-BE49-F238E27FC236}">
                <a16:creationId xmlns:a16="http://schemas.microsoft.com/office/drawing/2014/main" id="{465CAC8F-0C96-4A0D-A593-92A594F5255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65600" y="6356355"/>
            <a:ext cx="3860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1025" tIns="40500" rIns="81025" bIns="405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3" name="Google Shape;53;p11">
            <a:extLst xmlns:a="http://schemas.openxmlformats.org/drawingml/2006/main">
              <a:ext uri="{FF2B5EF4-FFF2-40B4-BE49-F238E27FC236}">
                <a16:creationId xmlns:a16="http://schemas.microsoft.com/office/drawing/2014/main" id="{5456034E-EED5-49E5-865F-304CCE9B3B1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737600" y="6356355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1025" tIns="40500" rIns="81025" bIns="405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Content with Caption" type="objTx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Google Shape;55;p12">
            <a:extLst xmlns:a="http://schemas.openxmlformats.org/drawingml/2006/main">
              <a:ext uri="{FF2B5EF4-FFF2-40B4-BE49-F238E27FC236}">
                <a16:creationId xmlns:a16="http://schemas.microsoft.com/office/drawing/2014/main" id="{32C83E94-F361-4536-9E41-44096CA84F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2" y="273051"/>
            <a:ext cx="4011084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1025" tIns="40500" rIns="81025" bIns="40500" anchor="b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Calibri"/>
              <a:buNone/>
              <a:defRPr sz="2160" b="1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6" name="Google Shape;56;p12">
            <a:extLst xmlns:a="http://schemas.openxmlformats.org/drawingml/2006/main">
              <a:ext uri="{FF2B5EF4-FFF2-40B4-BE49-F238E27FC236}">
                <a16:creationId xmlns:a16="http://schemas.microsoft.com/office/drawing/2014/main" id="{8C8AB90E-8671-4B34-9784-B70A9E2BEA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766736" y="273054"/>
            <a:ext cx="6815667" cy="5853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1025" tIns="40500" rIns="81025" bIns="40500" anchor="t">
            <a:normAutofit/>
          </a:bodyPr>
          <a:lstStyle xmlns:a="http://schemas.openxmlformats.org/drawingml/2006/main">
            <a:lvl1pPr marL="457200" indent="-441960" algn="l">
              <a:spcBef>
                <a:spcPts val="672"/>
              </a:spcBef>
              <a:spcAft>
                <a:spcPts val="0"/>
              </a:spcAft>
              <a:buClr>
                <a:schemeClr val="dk1"/>
              </a:buClr>
              <a:buSzPts val="3360"/>
              <a:buChar char="•"/>
              <a:defRPr sz="3359"/>
            </a:lvl1pPr>
            <a:lvl2pPr marL="914400" indent="-4191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–"/>
              <a:defRPr sz="3000"/>
            </a:lvl2pPr>
            <a:lvl3pPr marL="1371600" indent="-388619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 sz="2520"/>
            </a:lvl3pPr>
            <a:lvl4pPr marL="1828800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–"/>
              <a:defRPr sz="2160"/>
            </a:lvl4pPr>
            <a:lvl5pPr marL="2286000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»"/>
              <a:defRPr sz="2160"/>
            </a:lvl5pPr>
            <a:lvl6pPr marL="2743200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6pPr>
            <a:lvl7pPr marL="3200400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7pPr>
            <a:lvl8pPr marL="3657600" indent="-365759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8pPr>
            <a:lvl9pPr marL="4114800" indent="-365759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9pPr>
          </a:lstStyle>
          <a:p xmlns:a="http://schemas.openxmlformats.org/drawingml/2006/main">
            <a:endParaRPr/>
          </a:p>
        </p:txBody>
      </p:sp>
      <p:sp>
        <p:nvSpPr>
          <p:cNvPr id="57" name="Google Shape;57;p12">
            <a:extLst xmlns:a="http://schemas.openxmlformats.org/drawingml/2006/main">
              <a:ext uri="{FF2B5EF4-FFF2-40B4-BE49-F238E27FC236}">
                <a16:creationId xmlns:a16="http://schemas.microsoft.com/office/drawing/2014/main" id="{4ED08B4F-D97A-4538-AE15-B570CDE2B37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2" y="1435103"/>
            <a:ext cx="4011084" cy="4691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1025" tIns="40500" rIns="81025" bIns="40500" anchor="t">
            <a:normAutofit/>
          </a:bodyPr>
          <a:lstStyle xmlns:a="http://schemas.openxmlformats.org/drawingml/2006/main">
            <a:lvl1pPr marL="457200" indent="-228600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/>
            </a:lvl1pPr>
            <a:lvl2pPr marL="914400" indent="-228600" algn="l"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ts val="1320"/>
              <a:buNone/>
              <a:defRPr sz="1320"/>
            </a:lvl2pPr>
            <a:lvl3pPr marL="1371600" indent="-228600" algn="l">
              <a:spcBef>
                <a:spcPts val="216"/>
              </a:spcBef>
              <a:spcAft>
                <a:spcPts val="0"/>
              </a:spcAft>
              <a:buClr>
                <a:schemeClr val="dk1"/>
              </a:buClr>
              <a:buSzPts val="1080"/>
              <a:buNone/>
              <a:defRPr sz="1080"/>
            </a:lvl3pPr>
            <a:lvl4pPr marL="1828800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4pPr>
            <a:lvl5pPr marL="2286000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5pPr>
            <a:lvl6pPr marL="2743200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6pPr>
            <a:lvl7pPr marL="3200400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7pPr>
            <a:lvl8pPr marL="3657600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8pPr>
            <a:lvl9pPr marL="4114800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9pPr>
          </a:lstStyle>
          <a:p xmlns:a="http://schemas.openxmlformats.org/drawingml/2006/main">
            <a:endParaRPr/>
          </a:p>
        </p:txBody>
      </p:sp>
      <p:sp>
        <p:nvSpPr>
          <p:cNvPr id="58" name="Google Shape;58;p12">
            <a:extLst xmlns:a="http://schemas.openxmlformats.org/drawingml/2006/main">
              <a:ext uri="{FF2B5EF4-FFF2-40B4-BE49-F238E27FC236}">
                <a16:creationId xmlns:a16="http://schemas.microsoft.com/office/drawing/2014/main" id="{46A3EE19-7B38-45B0-A627-3D9BA4F4766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09600" y="6356355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1025" tIns="40500" rIns="81025" bIns="405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9" name="Google Shape;59;p12">
            <a:extLst xmlns:a="http://schemas.openxmlformats.org/drawingml/2006/main">
              <a:ext uri="{FF2B5EF4-FFF2-40B4-BE49-F238E27FC236}">
                <a16:creationId xmlns:a16="http://schemas.microsoft.com/office/drawing/2014/main" id="{8721064A-7BA5-4EBA-B101-6E25BD3DD47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65600" y="6356355"/>
            <a:ext cx="3860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1025" tIns="40500" rIns="81025" bIns="405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0" name="Google Shape;60;p12">
            <a:extLst xmlns:a="http://schemas.openxmlformats.org/drawingml/2006/main">
              <a:ext uri="{FF2B5EF4-FFF2-40B4-BE49-F238E27FC236}">
                <a16:creationId xmlns:a16="http://schemas.microsoft.com/office/drawing/2014/main" id="{A0971E0C-95FE-4ED3-904D-2FFA8C70323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737600" y="6356355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1025" tIns="40500" rIns="81025" bIns="405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Picture with Caption" type="picTx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Google Shape;62;p13">
            <a:extLst xmlns:a="http://schemas.openxmlformats.org/drawingml/2006/main">
              <a:ext uri="{FF2B5EF4-FFF2-40B4-BE49-F238E27FC236}">
                <a16:creationId xmlns:a16="http://schemas.microsoft.com/office/drawing/2014/main" id="{D2077113-79C2-4C7A-ABDC-CD97DDF2DF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9717" y="4800600"/>
            <a:ext cx="7315200" cy="5667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1025" tIns="40500" rIns="81025" bIns="40500" anchor="b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Calibri"/>
              <a:buNone/>
              <a:defRPr sz="2160" b="1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3" name="Google Shape;63;p13">
            <a:extLst xmlns:a="http://schemas.openxmlformats.org/drawingml/2006/main">
              <a:ext uri="{FF2B5EF4-FFF2-40B4-BE49-F238E27FC236}">
                <a16:creationId xmlns:a16="http://schemas.microsoft.com/office/drawing/2014/main" id="{96CB3993-3084-4B3F-AA9B-A96A4FDEBC7E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2389717" y="612775"/>
            <a:ext cx="7315200" cy="411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Google Shape;64;p13">
            <a:extLst xmlns:a="http://schemas.openxmlformats.org/drawingml/2006/main">
              <a:ext uri="{FF2B5EF4-FFF2-40B4-BE49-F238E27FC236}">
                <a16:creationId xmlns:a16="http://schemas.microsoft.com/office/drawing/2014/main" id="{6494DCD2-E8ED-4165-B679-ED432E366B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389717" y="5367338"/>
            <a:ext cx="7315200" cy="804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1025" tIns="40500" rIns="81025" bIns="40500" anchor="t">
            <a:normAutofit/>
          </a:bodyPr>
          <a:lstStyle xmlns:a="http://schemas.openxmlformats.org/drawingml/2006/main">
            <a:lvl1pPr marL="457200" indent="-228600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/>
            </a:lvl1pPr>
            <a:lvl2pPr marL="914400" indent="-228600" algn="l"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ts val="1320"/>
              <a:buNone/>
              <a:defRPr sz="1320"/>
            </a:lvl2pPr>
            <a:lvl3pPr marL="1371600" indent="-228600" algn="l">
              <a:spcBef>
                <a:spcPts val="216"/>
              </a:spcBef>
              <a:spcAft>
                <a:spcPts val="0"/>
              </a:spcAft>
              <a:buClr>
                <a:schemeClr val="dk1"/>
              </a:buClr>
              <a:buSzPts val="1080"/>
              <a:buNone/>
              <a:defRPr sz="1080"/>
            </a:lvl3pPr>
            <a:lvl4pPr marL="1828800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4pPr>
            <a:lvl5pPr marL="2286000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5pPr>
            <a:lvl6pPr marL="2743200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6pPr>
            <a:lvl7pPr marL="3200400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7pPr>
            <a:lvl8pPr marL="3657600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8pPr>
            <a:lvl9pPr marL="4114800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9pPr>
          </a:lstStyle>
          <a:p xmlns:a="http://schemas.openxmlformats.org/drawingml/2006/main">
            <a:endParaRPr/>
          </a:p>
        </p:txBody>
      </p:sp>
      <p:sp>
        <p:nvSpPr>
          <p:cNvPr id="65" name="Google Shape;65;p13">
            <a:extLst xmlns:a="http://schemas.openxmlformats.org/drawingml/2006/main">
              <a:ext uri="{FF2B5EF4-FFF2-40B4-BE49-F238E27FC236}">
                <a16:creationId xmlns:a16="http://schemas.microsoft.com/office/drawing/2014/main" id="{DB86720B-3454-40C2-8371-3AA2B733719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09600" y="6356355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1025" tIns="40500" rIns="81025" bIns="405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6" name="Google Shape;66;p13">
            <a:extLst xmlns:a="http://schemas.openxmlformats.org/drawingml/2006/main">
              <a:ext uri="{FF2B5EF4-FFF2-40B4-BE49-F238E27FC236}">
                <a16:creationId xmlns:a16="http://schemas.microsoft.com/office/drawing/2014/main" id="{222323DE-CF78-4168-9E48-188F3146F6C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65600" y="6356355"/>
            <a:ext cx="3860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1025" tIns="40500" rIns="81025" bIns="405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7" name="Google Shape;67;p13">
            <a:extLst xmlns:a="http://schemas.openxmlformats.org/drawingml/2006/main">
              <a:ext uri="{FF2B5EF4-FFF2-40B4-BE49-F238E27FC236}">
                <a16:creationId xmlns:a16="http://schemas.microsoft.com/office/drawing/2014/main" id="{1FE588D4-3507-4999-84E4-83175F3E7F5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737600" y="6356355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1025" tIns="40500" rIns="81025" bIns="405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Title and Vertical Text" type="vertTx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Google Shape;69;p14">
            <a:extLst xmlns:a="http://schemas.openxmlformats.org/drawingml/2006/main">
              <a:ext uri="{FF2B5EF4-FFF2-40B4-BE49-F238E27FC236}">
                <a16:creationId xmlns:a16="http://schemas.microsoft.com/office/drawing/2014/main" id="{0550FDE5-39C2-49D5-9989-DF4B2955A8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274638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1025" tIns="40500" rIns="81025" bIns="405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0" name="Google Shape;70;p14">
            <a:extLst xmlns:a="http://schemas.openxmlformats.org/drawingml/2006/main">
              <a:ext uri="{FF2B5EF4-FFF2-40B4-BE49-F238E27FC236}">
                <a16:creationId xmlns:a16="http://schemas.microsoft.com/office/drawing/2014/main" id="{235FF1B4-1AEE-4C8D-93B2-248DB573F4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3833020" y="-1623218"/>
            <a:ext cx="4525963" cy="1097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1025" tIns="40500" rIns="81025" bIns="40500" anchor="t">
            <a:normAutofit/>
          </a:bodyPr>
          <a:lstStyle xmlns:a="http://schemas.openxmlformats.org/drawingml/2006/main">
            <a:lvl1pPr marL="457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1" name="Google Shape;71;p14">
            <a:extLst xmlns:a="http://schemas.openxmlformats.org/drawingml/2006/main">
              <a:ext uri="{FF2B5EF4-FFF2-40B4-BE49-F238E27FC236}">
                <a16:creationId xmlns:a16="http://schemas.microsoft.com/office/drawing/2014/main" id="{F1277FA8-7E1B-40D1-9596-5CCC54001F8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09600" y="6356355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1025" tIns="40500" rIns="81025" bIns="405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2" name="Google Shape;72;p14">
            <a:extLst xmlns:a="http://schemas.openxmlformats.org/drawingml/2006/main">
              <a:ext uri="{FF2B5EF4-FFF2-40B4-BE49-F238E27FC236}">
                <a16:creationId xmlns:a16="http://schemas.microsoft.com/office/drawing/2014/main" id="{4906E672-BB6F-4F17-A5D4-A53F0C68875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65600" y="6356355"/>
            <a:ext cx="3860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1025" tIns="40500" rIns="81025" bIns="405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3" name="Google Shape;73;p14">
            <a:extLst xmlns:a="http://schemas.openxmlformats.org/drawingml/2006/main">
              <a:ext uri="{FF2B5EF4-FFF2-40B4-BE49-F238E27FC236}">
                <a16:creationId xmlns:a16="http://schemas.microsoft.com/office/drawing/2014/main" id="{DF96EA86-1D70-4151-9B5B-BE98E6A0B02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737600" y="6356355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1025" tIns="40500" rIns="81025" bIns="405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Vertical Title and Text" type="vertTitleAndTx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Google Shape;75;p15">
            <a:extLst xmlns:a="http://schemas.openxmlformats.org/drawingml/2006/main">
              <a:ext uri="{FF2B5EF4-FFF2-40B4-BE49-F238E27FC236}">
                <a16:creationId xmlns:a16="http://schemas.microsoft.com/office/drawing/2014/main" id="{EB416502-015C-4DE3-8AE5-909C1CDC51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7285039" y="1828803"/>
            <a:ext cx="5851525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1025" tIns="40500" rIns="81025" bIns="405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6" name="Google Shape;76;p15">
            <a:extLst xmlns:a="http://schemas.openxmlformats.org/drawingml/2006/main">
              <a:ext uri="{FF2B5EF4-FFF2-40B4-BE49-F238E27FC236}">
                <a16:creationId xmlns:a16="http://schemas.microsoft.com/office/drawing/2014/main" id="{6137F0B9-3D58-40F0-A6E9-0D299D79BF1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697039" y="-812797"/>
            <a:ext cx="5851525" cy="802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1025" tIns="40500" rIns="81025" bIns="40500" anchor="t">
            <a:normAutofit/>
          </a:bodyPr>
          <a:lstStyle xmlns:a="http://schemas.openxmlformats.org/drawingml/2006/main">
            <a:lvl1pPr marL="457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7" name="Google Shape;77;p15">
            <a:extLst xmlns:a="http://schemas.openxmlformats.org/drawingml/2006/main">
              <a:ext uri="{FF2B5EF4-FFF2-40B4-BE49-F238E27FC236}">
                <a16:creationId xmlns:a16="http://schemas.microsoft.com/office/drawing/2014/main" id="{5F4CC55A-8A45-4586-ABF0-3930B1B6223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09600" y="6356355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1025" tIns="40500" rIns="81025" bIns="405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8" name="Google Shape;78;p15">
            <a:extLst xmlns:a="http://schemas.openxmlformats.org/drawingml/2006/main">
              <a:ext uri="{FF2B5EF4-FFF2-40B4-BE49-F238E27FC236}">
                <a16:creationId xmlns:a16="http://schemas.microsoft.com/office/drawing/2014/main" id="{0EEEB715-FEA5-4AF3-812C-5E50BFC2E40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65600" y="6356355"/>
            <a:ext cx="3860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1025" tIns="40500" rIns="81025" bIns="405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9" name="Google Shape;79;p15">
            <a:extLst xmlns:a="http://schemas.openxmlformats.org/drawingml/2006/main">
              <a:ext uri="{FF2B5EF4-FFF2-40B4-BE49-F238E27FC236}">
                <a16:creationId xmlns:a16="http://schemas.microsoft.com/office/drawing/2014/main" id="{274899E1-DCF0-45D7-8B84-B79E455BFF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737600" y="6356355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1025" tIns="40500" rIns="81025" bIns="405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3d590241e4ce4b8e" /><Relationship Type="http://schemas.openxmlformats.org/officeDocument/2006/relationships/theme" Target="/ppt/slideMasters/theme/theme2.xml" Id="Re3db96bd3e684473" /><Relationship Type="http://schemas.openxmlformats.org/officeDocument/2006/relationships/slideLayout" Target="/ppt/slideLayouts/slideLayout1.xml" Id="R0d04e8be977e46b2" /><Relationship Type="http://schemas.openxmlformats.org/officeDocument/2006/relationships/slideLayout" Target="/ppt/slideLayouts/slideLayout2.xml" Id="R264ff180eb5d4b49" /><Relationship Type="http://schemas.openxmlformats.org/officeDocument/2006/relationships/slideLayout" Target="/ppt/slideLayouts/slideLayout3.xml" Id="Rf23fa5af192840b9" /><Relationship Type="http://schemas.openxmlformats.org/officeDocument/2006/relationships/slideLayout" Target="/ppt/slideLayouts/slideLayout4.xml" Id="R8ca51e3f43274380" /><Relationship Type="http://schemas.openxmlformats.org/officeDocument/2006/relationships/slideLayout" Target="/ppt/slideLayouts/slideLayout5.xml" Id="R176d557bdf7f4c63" /><Relationship Type="http://schemas.openxmlformats.org/officeDocument/2006/relationships/slideLayout" Target="/ppt/slideLayouts/slideLayout6.xml" Id="Re93ed81dd7404da4" /><Relationship Type="http://schemas.openxmlformats.org/officeDocument/2006/relationships/slideLayout" Target="/ppt/slideLayouts/slideLayout7.xml" Id="Rdb7b73bc98e54552" /><Relationship Type="http://schemas.openxmlformats.org/officeDocument/2006/relationships/slideLayout" Target="/ppt/slideLayouts/slideLayout8.xml" Id="R7bcbaea9417c4ef7" /><Relationship Type="http://schemas.openxmlformats.org/officeDocument/2006/relationships/slideLayout" Target="/ppt/slideLayouts/slideLayout9.xml" Id="R1d2ce046944f4229" /></Relationships>
</file>

<file path=ppt/slideMasters/slideMaster1.xml><?xml version="1.0" encoding="utf-8"?>
<p:sldMaster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3d590241e4ce4b8e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4">
            <a:extLst xmlns:a="http://schemas.openxmlformats.org/drawingml/2006/main">
              <a:ext uri="{FF2B5EF4-FFF2-40B4-BE49-F238E27FC236}">
                <a16:creationId xmlns:a16="http://schemas.microsoft.com/office/drawing/2014/main" id="{21331994-EF07-4E57-8644-A210065209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274638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1025" tIns="40500" rIns="81025" bIns="40500" anchor="ctr">
            <a:norm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80"/>
              <a:buFont typeface="Calibri"/>
              <a:buNone/>
              <a:defRPr sz="468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 xmlns:a="http://schemas.openxmlformats.org/drawingml/2006/main">
            <a:endParaRPr/>
          </a:p>
        </p:txBody>
      </p:sp>
      <p:sp>
        <p:nvSpPr>
          <p:cNvPr id="7" name="Google Shape;7;p4">
            <a:extLst xmlns:a="http://schemas.openxmlformats.org/drawingml/2006/main">
              <a:ext uri="{FF2B5EF4-FFF2-40B4-BE49-F238E27FC236}">
                <a16:creationId xmlns:a16="http://schemas.microsoft.com/office/drawing/2014/main" id="{3A304370-2A49-4A6F-8EA6-76340B06CD2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600203"/>
            <a:ext cx="109728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1025" tIns="40500" rIns="81025" bIns="40500" anchor="t">
            <a:normAutofit/>
          </a:bodyPr>
          <a:lstStyle xmlns:a="http://schemas.openxmlformats.org/drawingml/2006/main">
            <a:lvl1pPr marL="457200" marR="0" indent="-441960" algn="l">
              <a:spcBef>
                <a:spcPts val="672"/>
              </a:spcBef>
              <a:spcAft>
                <a:spcPts val="0"/>
              </a:spcAft>
              <a:buClr>
                <a:schemeClr val="dk1"/>
              </a:buClr>
              <a:buSzPts val="3360"/>
              <a:buFont typeface="Arial"/>
              <a:buChar char="•"/>
              <a:defRPr sz="3359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indent="-4191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–"/>
              <a:defRPr sz="3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88619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Font typeface="Arial"/>
              <a:buChar char="•"/>
              <a:defRPr sz="252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–"/>
              <a:defRPr sz="216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»"/>
              <a:defRPr sz="216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65759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65759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8" name="Google Shape;8;p4">
            <a:extLst xmlns:a="http://schemas.openxmlformats.org/drawingml/2006/main">
              <a:ext uri="{FF2B5EF4-FFF2-40B4-BE49-F238E27FC236}">
                <a16:creationId xmlns:a16="http://schemas.microsoft.com/office/drawing/2014/main" id="{CFEC36C3-BD30-4637-A827-58D5907713A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09600" y="6356355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1025" tIns="40500" rIns="81025" bIns="40500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2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buClr>
                <a:srgbClr val="000000"/>
              </a:buClr>
              <a:buFont typeface="Arial"/>
              <a:buNone/>
            </a:pPr>
            <a:endParaRPr kern="0"/>
          </a:p>
        </p:txBody>
      </p:sp>
      <p:sp>
        <p:nvSpPr>
          <p:cNvPr id="9" name="Google Shape;9;p4">
            <a:extLst xmlns:a="http://schemas.openxmlformats.org/drawingml/2006/main">
              <a:ext uri="{FF2B5EF4-FFF2-40B4-BE49-F238E27FC236}">
                <a16:creationId xmlns:a16="http://schemas.microsoft.com/office/drawing/2014/main" id="{57F01939-F829-4CEF-AC8C-DBCC34774C8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65600" y="6356355"/>
            <a:ext cx="3860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1025" tIns="40500" rIns="81025" bIns="40500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32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buClr>
                <a:srgbClr val="000000"/>
              </a:buClr>
              <a:buFont typeface="Arial"/>
              <a:buNone/>
            </a:pPr>
            <a:endParaRPr kern="0"/>
          </a:p>
        </p:txBody>
      </p:sp>
      <p:sp>
        <p:nvSpPr>
          <p:cNvPr id="10" name="Google Shape;10;p4">
            <a:extLst xmlns:a="http://schemas.openxmlformats.org/drawingml/2006/main">
              <a:ext uri="{FF2B5EF4-FFF2-40B4-BE49-F238E27FC236}">
                <a16:creationId xmlns:a16="http://schemas.microsoft.com/office/drawing/2014/main" id="{F967A0A5-3F50-4320-A2AB-4905C9C36C5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737600" y="6356355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1025" tIns="40500" rIns="81025" bIns="40500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132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spcBef>
                <a:spcPts val="0"/>
              </a:spcBef>
              <a:buNone/>
              <a:defRPr sz="132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spcBef>
                <a:spcPts val="0"/>
              </a:spcBef>
              <a:buNone/>
              <a:defRPr sz="132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spcBef>
                <a:spcPts val="0"/>
              </a:spcBef>
              <a:buNone/>
              <a:defRPr sz="132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spcBef>
                <a:spcPts val="0"/>
              </a:spcBef>
              <a:buNone/>
              <a:defRPr sz="132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spcBef>
                <a:spcPts val="0"/>
              </a:spcBef>
              <a:buNone/>
              <a:defRPr sz="132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spcBef>
                <a:spcPts val="0"/>
              </a:spcBef>
              <a:buNone/>
              <a:defRPr sz="132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spcBef>
                <a:spcPts val="0"/>
              </a:spcBef>
              <a:buNone/>
              <a:defRPr sz="132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spcBef>
                <a:spcPts val="0"/>
              </a:spcBef>
              <a:buNone/>
              <a:defRPr sz="132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t>‹#›</a:t>
            </a:fld>
            <a:endParaRPr kern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04e8be977e46b2"/>
    <p:sldLayoutId xmlns:r="http://schemas.openxmlformats.org/officeDocument/2006/relationships" id="2147483650" r:id="R264ff180eb5d4b49"/>
    <p:sldLayoutId xmlns:r="http://schemas.openxmlformats.org/officeDocument/2006/relationships" id="2147483651" r:id="Rf23fa5af192840b9"/>
    <p:sldLayoutId xmlns:r="http://schemas.openxmlformats.org/officeDocument/2006/relationships" id="2147483652" r:id="R8ca51e3f43274380"/>
    <p:sldLayoutId xmlns:r="http://schemas.openxmlformats.org/officeDocument/2006/relationships" id="2147483653" r:id="R176d557bdf7f4c63"/>
    <p:sldLayoutId xmlns:r="http://schemas.openxmlformats.org/officeDocument/2006/relationships" id="2147483654" r:id="Re93ed81dd7404da4"/>
    <p:sldLayoutId xmlns:r="http://schemas.openxmlformats.org/officeDocument/2006/relationships" id="2147483655" r:id="Rdb7b73bc98e54552"/>
    <p:sldLayoutId xmlns:r="http://schemas.openxmlformats.org/officeDocument/2006/relationships" id="2147483656" r:id="R7bcbaea9417c4ef7"/>
    <p:sldLayoutId xmlns:r="http://schemas.openxmlformats.org/officeDocument/2006/relationships" id="2147483657" r:id="R1d2ce046944f4229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78391f299fd4a49" /><Relationship Type="http://schemas.openxmlformats.org/officeDocument/2006/relationships/image" Target="/ppt/media/image2.png" Id="Ra2f1d77e4b6345fa" /><Relationship Type="http://schemas.openxmlformats.org/officeDocument/2006/relationships/notesSlide" Target="/ppt/notesSlides/notesSlide1.xml" Id="R8307a4c500e84c0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e27ce62e84143eb" /><Relationship Type="http://schemas.openxmlformats.org/officeDocument/2006/relationships/notesSlide" Target="/ppt/notesSlides/notesSlide2.xml" Id="R29295f9a0c36481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c0c1bdbd9bc4a69" /><Relationship Type="http://schemas.openxmlformats.org/officeDocument/2006/relationships/notesSlide" Target="/ppt/notesSlides/notesSlide3.xml" Id="R11c42483e32a43e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887bfa6ec9345dc" /><Relationship Type="http://schemas.openxmlformats.org/officeDocument/2006/relationships/notesSlide" Target="/ppt/notesSlides/notesSlide4.xml" Id="R6e58f290c84d4b1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81617f312a44d96" /><Relationship Type="http://schemas.openxmlformats.org/officeDocument/2006/relationships/notesSlide" Target="/ppt/notesSlides/notesSlide5.xml" Id="Rab4021f9ba954e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ab17e93362e4291" /><Relationship Type="http://schemas.openxmlformats.org/officeDocument/2006/relationships/notesSlide" Target="/ppt/notesSlides/notesSlide6.xml" Id="R1dfefd035d6e4d5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403fd5f54ff47b5" /><Relationship Type="http://schemas.openxmlformats.org/officeDocument/2006/relationships/notesSlide" Target="/ppt/notesSlides/notesSlide7.xml" Id="R694c1fe510d54ff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354fee17f1f46c1" /><Relationship Type="http://schemas.openxmlformats.org/officeDocument/2006/relationships/notesSlide" Target="/ppt/notesSlides/notesSlide8.xml" Id="R26faff42e1f84c1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021b715ed174ac9" /><Relationship Type="http://schemas.openxmlformats.org/officeDocument/2006/relationships/notesSlide" Target="/ppt/notesSlides/notesSlide9.xml" Id="Ra0f2d3114ce14778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a2f1d77e4b6345fa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roject-title">
            <a:extLst xmlns:a="http://schemas.openxmlformats.org/drawingml/2006/main">
              <a:ext uri="{FF2B5EF4-FFF2-40B4-BE49-F238E27FC236}">
                <a16:creationId xmlns:a16="http://schemas.microsoft.com/office/drawing/2014/main" id="{BA27E89E-A45A-47A8-99D8-AC7DC8389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590800"/>
            <a:ext cx="8572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1859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1859C"/>
                </a:solidFill>
                <a:latin typeface="Arial"/>
                <a:ea typeface="Arial"/>
                <a:cs typeface="Arial"/>
              </a:rPr>
              <a:t>SMARTINTERVIEW</a:t>
            </a:r>
          </a:p>
          <a:p xmlns:a="http://schemas.openxmlformats.org/drawingml/2006/main">
            <a:pPr algn="l">
              <a:defRPr sz="2325" b="1">
                <a:solidFill>
                  <a:srgbClr val="31859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1859C"/>
                </a:solidFill>
                <a:latin typeface="Arial"/>
                <a:ea typeface="Arial"/>
                <a:cs typeface="Arial"/>
              </a:rPr>
              <a:t>Adaptive Technical Mock Interview Platform</a:t>
            </a:r>
          </a:p>
        </p:txBody>
      </p:sp>
      <p:sp>
        <p:nvSpPr>
          <p:cNvPr id="2" name="date">
            <a:extLst xmlns:a="http://schemas.openxmlformats.org/drawingml/2006/main">
              <a:ext uri="{FF2B5EF4-FFF2-40B4-BE49-F238E27FC236}">
                <a16:creationId xmlns:a16="http://schemas.microsoft.com/office/drawing/2014/main" id="{8B5BC357-37DB-47DC-8781-4A4282D84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385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D596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D5965"/>
                </a:solidFill>
                <a:latin typeface="Arial"/>
                <a:ea typeface="Arial"/>
                <a:cs typeface="Arial"/>
              </a:rPr>
              <a:t>Final Project Presentation | 23-Sep-2026</a:t>
            </a:r>
          </a:p>
        </p:txBody>
      </p:sp>
      <p:sp>
        <p:nvSpPr>
          <p:cNvPr id="3" name="team-information">
            <a:extLst xmlns:a="http://schemas.openxmlformats.org/drawingml/2006/main">
              <a:ext uri="{FF2B5EF4-FFF2-40B4-BE49-F238E27FC236}">
                <a16:creationId xmlns:a16="http://schemas.microsoft.com/office/drawing/2014/main" id="{3EEEC6FD-941E-45FA-A7A0-3BD179BDE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923" y="4456748"/>
            <a:ext cx="4839653" cy="2028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Team Members</a:t>
            </a:r>
          </a:p>
          <a:p xmlns:a="http://schemas.openxmlformats.org/drawingml/2006/main">
            <a:pPr algn="l"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111"/>
                </a:solidFill>
                <a:latin typeface="Arial"/>
                <a:ea typeface="Arial"/>
                <a:cs typeface="Arial"/>
              </a:rPr>
              <a:t>ranith28 (Git author)</a:t>
            </a:r>
          </a:p>
          <a:p xmlns:a="http://schemas.openxmlformats.org/drawingml/2006/main">
            <a:pPr algn="l"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111"/>
                </a:solidFill>
                <a:latin typeface="Arial"/>
                <a:ea typeface="Arial"/>
                <a:cs typeface="Arial"/>
              </a:rPr>
              <a:t>Ranith11 (repository owner)</a:t>
            </a:r>
          </a:p>
        </p:txBody>
      </p:sp>
      <p:sp>
        <p:nvSpPr>
          <p:cNvPr id="4" name="mentor-information">
            <a:extLst xmlns:a="http://schemas.openxmlformats.org/drawingml/2006/main">
              <a:ext uri="{FF2B5EF4-FFF2-40B4-BE49-F238E27FC236}">
                <a16:creationId xmlns:a16="http://schemas.microsoft.com/office/drawing/2014/main" id="{D47D07E5-812F-44AC-B651-87B06496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8498" y="4456748"/>
            <a:ext cx="4095750" cy="2028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Mentor / Group</a:t>
            </a:r>
          </a:p>
          <a:p xmlns:a="http://schemas.openxmlformats.org/drawingml/2006/main">
            <a:pPr algn="l">
              <a:defRPr sz="11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11111"/>
                </a:solidFill>
                <a:latin typeface="Arial"/>
                <a:ea typeface="Arial"/>
                <a:cs typeface="Arial"/>
              </a:rPr>
              <a:t>Not specified in supplied source materials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11111"/>
                </a:solidFill>
                <a:latin typeface="Arial"/>
                <a:ea typeface="Arial"/>
                <a:cs typeface="Arial"/>
              </a:rPr>
              <a:t>Repository: Ranith11/SmartInterview-team-main</a:t>
            </a:r>
          </a:p>
        </p:txBody>
      </p:sp>
    </p:spTree>
    <p:extLst>
      <p:ext uri="{BB962C8B-B14F-4D97-AF65-F5344CB8AC3E}">
        <p14:creationId xmlns:p14="http://schemas.microsoft.com/office/powerpoint/2010/main" val="192205548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BC6BC95B-B97D-4E28-8C9B-0606DC314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8" y="260985"/>
            <a:ext cx="10429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0000"/>
                </a:solidFill>
                <a:latin typeface="Arial"/>
                <a:ea typeface="Arial"/>
                <a:cs typeface="Arial"/>
              </a:rPr>
              <a:t>CONTENTS</a:t>
            </a:r>
          </a:p>
        </p:txBody>
      </p:sp>
      <p:sp>
        <p:nvSpPr>
          <p:cNvPr id="2" name="contents-list">
            <a:extLst xmlns:a="http://schemas.openxmlformats.org/drawingml/2006/main">
              <a:ext uri="{FF2B5EF4-FFF2-40B4-BE49-F238E27FC236}">
                <a16:creationId xmlns:a16="http://schemas.microsoft.com/office/drawing/2014/main" id="{089B63AE-DA67-4D03-A78D-0CAF38076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066800"/>
            <a:ext cx="6191250" cy="462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1.  Title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2.  Contents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3.  Introduction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4.  Requirement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5.  Design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6.  Development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7.  Project Outcome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8.  Conclusion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9.  Thank You</a:t>
            </a:r>
          </a:p>
        </p:txBody>
      </p:sp>
    </p:spTree>
    <p:extLst>
      <p:ext uri="{BB962C8B-B14F-4D97-AF65-F5344CB8AC3E}">
        <p14:creationId xmlns:p14="http://schemas.microsoft.com/office/powerpoint/2010/main" val="322366178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0D63A2C0-127E-4105-B2A9-B49CDF449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8" y="260985"/>
            <a:ext cx="10429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0000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2" name="intro-left-heading">
            <a:extLst xmlns:a="http://schemas.openxmlformats.org/drawingml/2006/main">
              <a:ext uri="{FF2B5EF4-FFF2-40B4-BE49-F238E27FC236}">
                <a16:creationId xmlns:a16="http://schemas.microsoft.com/office/drawing/2014/main" id="{7C2EB6C4-8CBD-4F5E-A169-B0A930B56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0668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596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D5965"/>
                </a:solidFill>
                <a:latin typeface="Arial"/>
                <a:ea typeface="Arial"/>
                <a:cs typeface="Arial"/>
              </a:rPr>
              <a:t>End-user requirement and objectives</a:t>
            </a:r>
          </a:p>
        </p:txBody>
      </p:sp>
      <p:sp>
        <p:nvSpPr>
          <p:cNvPr id="3" name="intro-objectives">
            <a:extLst xmlns:a="http://schemas.openxmlformats.org/drawingml/2006/main">
              <a:ext uri="{FF2B5EF4-FFF2-40B4-BE49-F238E27FC236}">
                <a16:creationId xmlns:a16="http://schemas.microsoft.com/office/drawing/2014/main" id="{1D32CDD3-E50C-4B7E-A2CC-733D38DDA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381125"/>
            <a:ext cx="47625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01600">
              <a:spcAft>
                <a:spcPts val="800"/>
              </a:spcAft>
              <a:buChar char="•"/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111"/>
                </a:solidFill>
                <a:latin typeface="Arial"/>
                <a:ea typeface="Arial"/>
                <a:cs typeface="Arial"/>
              </a:rPr>
              <a:t>Give students and job seekers repeatable, role-aware technical interview practice without depending on interviewer availability.</a:t>
            </a:r>
          </a:p>
          <a:p xmlns:a="http://schemas.openxmlformats.org/drawingml/2006/main">
            <a:pPr marL="228600" indent="-101600">
              <a:spcAft>
                <a:spcPts val="800"/>
              </a:spcAft>
              <a:buChar char="•"/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a resume with a Job Description, or course material in Syllabus Mode, to select relevant interview topics.</a:t>
            </a:r>
          </a:p>
          <a:p xmlns:a="http://schemas.openxmlformats.org/drawingml/2006/main">
            <a:pPr marL="228600" indent="-101600">
              <a:spcAft>
                <a:spcPts val="800"/>
              </a:spcAft>
              <a:buChar char="•"/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111"/>
                </a:solidFill>
                <a:latin typeface="Arial"/>
                <a:ea typeface="Arial"/>
                <a:cs typeface="Arial"/>
              </a:rPr>
              <a:t>Generate one question at a time, evaluate each answer, adapt the next question, and present structured feedback.</a:t>
            </a:r>
          </a:p>
        </p:txBody>
      </p:sp>
      <p:sp>
        <p:nvSpPr>
          <p:cNvPr id="4" name="intro-right-heading">
            <a:extLst xmlns:a="http://schemas.openxmlformats.org/drawingml/2006/main">
              <a:ext uri="{FF2B5EF4-FFF2-40B4-BE49-F238E27FC236}">
                <a16:creationId xmlns:a16="http://schemas.microsoft.com/office/drawing/2014/main" id="{A2EDF31C-6F3F-4CF2-9655-0CAF47B0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066800"/>
            <a:ext cx="442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596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D5965"/>
                </a:solidFill>
                <a:latin typeface="Arial"/>
                <a:ea typeface="Arial"/>
                <a:cs typeface="Arial"/>
              </a:rPr>
              <a:t>Implemented approach and research background</a:t>
            </a:r>
          </a:p>
        </p:txBody>
      </p:sp>
      <p:sp>
        <p:nvSpPr>
          <p:cNvPr id="5" name="intro-implementation">
            <a:extLst xmlns:a="http://schemas.openxmlformats.org/drawingml/2006/main">
              <a:ext uri="{FF2B5EF4-FFF2-40B4-BE49-F238E27FC236}">
                <a16:creationId xmlns:a16="http://schemas.microsoft.com/office/drawing/2014/main" id="{A36BFD97-5F8B-4F8A-8F9A-0B12B1D3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81125"/>
            <a:ext cx="4429125" cy="415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01600">
              <a:spcAft>
                <a:spcPts val="700"/>
              </a:spcAft>
              <a:buChar char="•"/>
              <a:defRPr sz="12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111"/>
                </a:solidFill>
                <a:latin typeface="Arial"/>
                <a:ea typeface="Arial"/>
                <a:cs typeface="Arial"/>
              </a:rPr>
              <a:t>React user interface, FastAPI services, MySQL persistence, and ChromaDB semantic retrieval.</a:t>
            </a:r>
          </a:p>
          <a:p xmlns:a="http://schemas.openxmlformats.org/drawingml/2006/main">
            <a:pPr marL="228600" indent="-101600">
              <a:spcAft>
                <a:spcPts val="700"/>
              </a:spcAft>
              <a:buChar char="•"/>
              <a:defRPr sz="12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111"/>
                </a:solidFill>
                <a:latin typeface="Arial"/>
                <a:ea typeface="Arial"/>
                <a:cs typeface="Arial"/>
              </a:rPr>
              <a:t>SentenceTransformers all-MiniLM-L6-v2, Groq, edge-tts, and Groq Whisper support the current implementation.</a:t>
            </a:r>
          </a:p>
          <a:p xmlns:a="http://schemas.openxmlformats.org/drawingml/2006/main">
            <a:pPr marL="228600" indent="-101600">
              <a:spcAft>
                <a:spcPts val="700"/>
              </a:spcAft>
              <a:buChar char="•"/>
              <a:defRPr sz="12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111"/>
                </a:solidFill>
                <a:latin typeface="Arial"/>
                <a:ea typeface="Arial"/>
                <a:cs typeface="Arial"/>
              </a:rPr>
              <a:t>Base Paper 1: AI Mock Interview: An Intelligent Voice-Driven Interview Simulation System using Gemini AI and Whisper.</a:t>
            </a:r>
          </a:p>
          <a:p xmlns:a="http://schemas.openxmlformats.org/drawingml/2006/main">
            <a:pPr marL="228600" indent="-101600">
              <a:spcAft>
                <a:spcPts val="700"/>
              </a:spcAft>
              <a:buChar char="•"/>
              <a:defRPr sz="12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111"/>
                </a:solidFill>
                <a:latin typeface="Arial"/>
                <a:ea typeface="Arial"/>
                <a:cs typeface="Arial"/>
              </a:rPr>
              <a:t>Base Paper 2: Development of an Autonomous AI Interview Engine Using Sentence-BERT and Large Language Models for End-to-End Candidate Evaluation.</a:t>
            </a:r>
          </a:p>
          <a:p xmlns:a="http://schemas.openxmlformats.org/drawingml/2006/main">
            <a:pPr marL="228600" indent="-101600">
              <a:spcAft>
                <a:spcPts val="700"/>
              </a:spcAft>
              <a:buChar char="•"/>
              <a:defRPr sz="12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papers motivate voice interaction, semantic matching, and adaptive interviewing. They are related work, not a claim that SmartInterview uses their Streamlit, Gemini, or Flask implementations.</a:t>
            </a:r>
          </a:p>
        </p:txBody>
      </p:sp>
    </p:spTree>
    <p:extLst>
      <p:ext uri="{BB962C8B-B14F-4D97-AF65-F5344CB8AC3E}">
        <p14:creationId xmlns:p14="http://schemas.microsoft.com/office/powerpoint/2010/main" val="11997282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493BB9F3-61BD-4A18-AE5A-14D503A6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8" y="260985"/>
            <a:ext cx="10429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0000"/>
                </a:solidFill>
                <a:latin typeface="Arial"/>
                <a:ea typeface="Arial"/>
                <a:cs typeface="Arial"/>
              </a:rPr>
              <a:t>REQUIREMENT</a:t>
            </a:r>
          </a:p>
        </p:txBody>
      </p:sp>
      <p:sp>
        <p:nvSpPr>
          <p:cNvPr id="2" name="requirement-left-heading">
            <a:extLst xmlns:a="http://schemas.openxmlformats.org/drawingml/2006/main">
              <a:ext uri="{FF2B5EF4-FFF2-40B4-BE49-F238E27FC236}">
                <a16:creationId xmlns:a16="http://schemas.microsoft.com/office/drawing/2014/main" id="{E2DD4657-53E2-4624-AE5D-0C5027CE1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066800"/>
            <a:ext cx="466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596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D5965"/>
                </a:solidFill>
                <a:latin typeface="Arial"/>
                <a:ea typeface="Arial"/>
                <a:cs typeface="Arial"/>
              </a:rPr>
              <a:t>Expected application outcome</a:t>
            </a:r>
          </a:p>
        </p:txBody>
      </p:sp>
      <p:sp>
        <p:nvSpPr>
          <p:cNvPr id="3" name="expected-outcome">
            <a:extLst xmlns:a="http://schemas.openxmlformats.org/drawingml/2006/main">
              <a:ext uri="{FF2B5EF4-FFF2-40B4-BE49-F238E27FC236}">
                <a16:creationId xmlns:a16="http://schemas.microsoft.com/office/drawing/2014/main" id="{1CEE199D-F25D-4B9A-8FA9-ECEF12FE7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381125"/>
            <a:ext cx="46672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01600">
              <a:spcAft>
                <a:spcPts val="800"/>
              </a:spcAft>
              <a:buChar char="•"/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111"/>
                </a:solidFill>
                <a:latin typeface="Arial"/>
                <a:ea typeface="Arial"/>
                <a:cs typeface="Arial"/>
              </a:rPr>
              <a:t>Authenticated web application for technical mock interviews and performance review.</a:t>
            </a:r>
          </a:p>
          <a:p xmlns:a="http://schemas.openxmlformats.org/drawingml/2006/main">
            <a:pPr marL="228600" indent="-101600">
              <a:spcAft>
                <a:spcPts val="800"/>
              </a:spcAft>
              <a:buChar char="•"/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111"/>
                </a:solidFill>
                <a:latin typeface="Arial"/>
                <a:ea typeface="Arial"/>
                <a:cs typeface="Arial"/>
              </a:rPr>
              <a:t>Normal Mode: parse a PDF resume and Job Description, map matched and gap skills, then create an interview focus list.</a:t>
            </a:r>
          </a:p>
          <a:p xmlns:a="http://schemas.openxmlformats.org/drawingml/2006/main">
            <a:pPr marL="228600" indent="-101600">
              <a:spcAft>
                <a:spcPts val="800"/>
              </a:spcAft>
              <a:buChar char="•"/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111"/>
                </a:solidFill>
                <a:latin typeface="Arial"/>
                <a:ea typeface="Arial"/>
                <a:cs typeface="Arial"/>
              </a:rPr>
              <a:t>Syllabus Mode: ingest PDF, TXT, or DOCX course material and conduct a source-grounded adaptive interview.</a:t>
            </a:r>
          </a:p>
          <a:p xmlns:a="http://schemas.openxmlformats.org/drawingml/2006/main">
            <a:pPr marL="228600" indent="-101600">
              <a:spcAft>
                <a:spcPts val="800"/>
              </a:spcAft>
              <a:buChar char="•"/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111"/>
                </a:solidFill>
                <a:latin typeface="Arial"/>
                <a:ea typeface="Arial"/>
                <a:cs typeface="Arial"/>
              </a:rPr>
              <a:t>Persist interview sessions, questions, answers, evaluations, and user history for later review.</a:t>
            </a:r>
          </a:p>
        </p:txBody>
      </p:sp>
      <p:sp>
        <p:nvSpPr>
          <p:cNvPr id="4" name="requirement-right-heading">
            <a:extLst xmlns:a="http://schemas.openxmlformats.org/drawingml/2006/main">
              <a:ext uri="{FF2B5EF4-FFF2-40B4-BE49-F238E27FC236}">
                <a16:creationId xmlns:a16="http://schemas.microsoft.com/office/drawing/2014/main" id="{BB08292D-7D25-4032-9E89-8124F69B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066800"/>
            <a:ext cx="442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596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D5965"/>
                </a:solidFill>
                <a:latin typeface="Arial"/>
                <a:ea typeface="Arial"/>
                <a:cs typeface="Arial"/>
              </a:rPr>
              <a:t>Major implemented features</a:t>
            </a:r>
          </a:p>
        </p:txBody>
      </p:sp>
      <p:sp>
        <p:nvSpPr>
          <p:cNvPr id="5" name="feature-list">
            <a:extLst xmlns:a="http://schemas.openxmlformats.org/drawingml/2006/main">
              <a:ext uri="{FF2B5EF4-FFF2-40B4-BE49-F238E27FC236}">
                <a16:creationId xmlns:a16="http://schemas.microsoft.com/office/drawing/2014/main" id="{A5823CB6-A893-457C-8706-104683803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81125"/>
            <a:ext cx="442912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01600">
              <a:spcAft>
                <a:spcPts val="800"/>
              </a:spcAft>
              <a:buChar char="•"/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111"/>
                </a:solidFill>
                <a:latin typeface="Arial"/>
                <a:ea typeface="Arial"/>
                <a:cs typeface="Arial"/>
              </a:rPr>
              <a:t>Resume and Job Description upload with deterministic skill mapping and user-scoped records.</a:t>
            </a:r>
          </a:p>
          <a:p xmlns:a="http://schemas.openxmlformats.org/drawingml/2006/main">
            <a:pPr marL="228600" indent="-101600">
              <a:spcAft>
                <a:spcPts val="800"/>
              </a:spcAft>
              <a:buChar char="•"/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111"/>
                </a:solidFill>
                <a:latin typeface="Arial"/>
                <a:ea typeface="Arial"/>
                <a:cs typeface="Arial"/>
              </a:rPr>
              <a:t>RAG-based question generation from technical knowledge chunks before Groq receives the prompt.</a:t>
            </a:r>
          </a:p>
          <a:p xmlns:a="http://schemas.openxmlformats.org/drawingml/2006/main">
            <a:pPr marL="228600" indent="-101600">
              <a:spcAft>
                <a:spcPts val="800"/>
              </a:spcAft>
              <a:buChar char="•"/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111"/>
                </a:solidFill>
                <a:latin typeface="Arial"/>
                <a:ea typeface="Arial"/>
                <a:cs typeface="Arial"/>
              </a:rPr>
              <a:t>Adaptive Bloom's Taxonomy, difficulty, question type, and topic or skill selection.</a:t>
            </a:r>
          </a:p>
          <a:p xmlns:a="http://schemas.openxmlformats.org/drawingml/2006/main">
            <a:pPr marL="228600" indent="-101600">
              <a:spcAft>
                <a:spcPts val="800"/>
              </a:spcAft>
              <a:buChar char="•"/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111"/>
                </a:solidFill>
                <a:latin typeface="Arial"/>
                <a:ea typeface="Arial"/>
                <a:cs typeface="Arial"/>
              </a:rPr>
              <a:t>Multi-signal answer evaluation, results, history, performance dashboard, PDF reporting, and optional voice interaction.</a:t>
            </a:r>
          </a:p>
        </p:txBody>
      </p:sp>
      <p:sp>
        <p:nvSpPr>
          <p:cNvPr id="6" name="requirement-boundary">
            <a:extLst xmlns:a="http://schemas.openxmlformats.org/drawingml/2006/main">
              <a:ext uri="{FF2B5EF4-FFF2-40B4-BE49-F238E27FC236}">
                <a16:creationId xmlns:a16="http://schemas.microsoft.com/office/drawing/2014/main" id="{FCE23957-B7F9-4F34-9E76-24E83D2F0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721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Functional boundary: the system supports interview preparation and feedback. It does not claim recruitment ranking accuracy or deployment results from the base papers.</a:t>
            </a:r>
          </a:p>
        </p:txBody>
      </p:sp>
    </p:spTree>
    <p:extLst>
      <p:ext uri="{BB962C8B-B14F-4D97-AF65-F5344CB8AC3E}">
        <p14:creationId xmlns:p14="http://schemas.microsoft.com/office/powerpoint/2010/main" val="204063711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4" name="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143625" y="1819275"/>
            <a:ext cx="2952750" cy="80010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666666"/>
            </a:solidFill>
            <a:prstDash val="solid"/>
            <a:headEnd type="arrow" w="med" len="med"/>
          </a:ln>
        </p:spPr>
      </p:cxnSp>
      <p:cxnSp>
        <p:nvCxnSpPr>
          <p:cNvPr id="25" name=""/>
          <p:cNvCxnSpPr>
            <a:stCxn xmlns:a="http://schemas.openxmlformats.org/drawingml/2006/main" id="7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>
            <a:off x="6143625" y="1562100"/>
            <a:ext cx="295275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E46C0A"/>
            </a:solidFill>
            <a:prstDash val="solid"/>
            <a:headEnd type="arrow" w="med" len="med"/>
          </a:ln>
        </p:spPr>
      </p:cxnSp>
      <p:cxnSp>
        <p:nvCxnSpPr>
          <p:cNvPr id="26" name=""/>
          <p:cNvCxnSpPr>
            <a:stCxn xmlns:a="http://schemas.openxmlformats.org/drawingml/2006/main" id="8" idx="3"/>
            <a:endCxn xmlns:a="http://schemas.openxmlformats.org/drawingml/2006/main" id="7" idx="2"/>
          </p:cNvCxnSpPr>
          <p:nvPr/>
        </p:nvCxnSpPr>
        <p:spPr>
          <a:xfrm xmlns:a="http://schemas.openxmlformats.org/drawingml/2006/main" flipV="1">
            <a:off x="8524875" y="1981200"/>
            <a:ext cx="1357313" cy="63817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666666"/>
            </a:solidFill>
            <a:prstDash val="solid"/>
            <a:headEnd type="arrow" w="med" len="med"/>
          </a:ln>
        </p:spPr>
      </p:cxnSp>
      <p:cxnSp>
        <p:nvCxnSpPr>
          <p:cNvPr id="27" name=""/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7596188" y="1981200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666666"/>
            </a:solidFill>
            <a:prstDash val="solid"/>
            <a:headEnd type="arrow" w="med" len="med"/>
          </a:ln>
        </p:spPr>
      </p:cxnSp>
      <p:cxnSp>
        <p:nvCxnSpPr>
          <p:cNvPr id="28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6143625" y="1562100"/>
            <a:ext cx="523875" cy="25717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666666"/>
            </a:solidFill>
            <a:prstDash val="solid"/>
            <a:headEnd type="arrow" w="med" len="med"/>
          </a:ln>
        </p:spPr>
      </p:cxnSp>
      <p:cxnSp>
        <p:nvCxnSpPr>
          <p:cNvPr id="2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4048125" y="18192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666666"/>
            </a:solidFill>
            <a:prstDash val="solid"/>
            <a:headEnd type="arrow" w="med" len="med"/>
          </a:ln>
        </p:spPr>
      </p:cxnSp>
      <p:cxnSp>
        <p:nvCxnSpPr>
          <p:cNvPr id="30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143125" y="18192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666666"/>
            </a:solidFill>
            <a:prstDash val="solid"/>
            <a:headEnd type="arrow" w="med" len="med"/>
          </a:ln>
        </p:spPr>
      </p:cxnSp>
      <p:sp>
        <p:nvSpPr>
          <p:cNvPr id="31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BE2FE39A-1C53-4E25-A527-9D524F731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8" y="260985"/>
            <a:ext cx="10429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0000"/>
                </a:solidFill>
                <a:latin typeface="Arial"/>
                <a:ea typeface="Arial"/>
                <a:cs typeface="Arial"/>
              </a:rPr>
              <a:t>DESIGN</a:t>
            </a:r>
          </a:p>
        </p:txBody>
      </p:sp>
      <p:sp>
        <p:nvSpPr>
          <p:cNvPr id="2" name="architecture-heading">
            <a:extLst xmlns:a="http://schemas.openxmlformats.org/drawingml/2006/main">
              <a:ext uri="{FF2B5EF4-FFF2-40B4-BE49-F238E27FC236}">
                <a16:creationId xmlns:a16="http://schemas.microsoft.com/office/drawing/2014/main" id="{D506FA07-E24C-4EB9-85A7-D5B7544E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763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596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D5965"/>
                </a:solidFill>
                <a:latin typeface="Arial"/>
                <a:ea typeface="Arial"/>
                <a:cs typeface="Arial"/>
              </a:rPr>
              <a:t>Actual current-system architecture</a:t>
            </a:r>
          </a:p>
        </p:txBody>
      </p:sp>
      <p:sp>
        <p:nvSpPr>
          <p:cNvPr id="3" name="frontend">
            <a:extLst xmlns:a="http://schemas.openxmlformats.org/drawingml/2006/main">
              <a:ext uri="{FF2B5EF4-FFF2-40B4-BE49-F238E27FC236}">
                <a16:creationId xmlns:a16="http://schemas.microsoft.com/office/drawing/2014/main" id="{84A7FDE6-8C77-43CE-A563-F8B2E9763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476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4"/>
          </a:solidFill>
          <a:ln xmlns:a="http://schemas.openxmlformats.org/drawingml/2006/main" w="11906">
            <a:solidFill>
              <a:srgbClr val="31859C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D5965"/>
                </a:solidFill>
                <a:latin typeface="Arial"/>
                <a:ea typeface="Arial"/>
                <a:cs typeface="Arial"/>
              </a:rPr>
              <a:t>React Frontend</a:t>
            </a:r>
          </a:p>
          <a:p xmlns:a="http://schemas.openxmlformats.org/drawingml/2006/main">
            <a:pPr algn="ctr">
              <a:defRPr sz="9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111111"/>
                </a:solidFill>
                <a:latin typeface="Arial"/>
                <a:ea typeface="Arial"/>
                <a:cs typeface="Arial"/>
              </a:rPr>
              <a:t>Upload, syllabus, interview, results</a:t>
            </a:r>
          </a:p>
        </p:txBody>
      </p:sp>
      <p:sp>
        <p:nvSpPr>
          <p:cNvPr id="4" name="backend">
            <a:extLst xmlns:a="http://schemas.openxmlformats.org/drawingml/2006/main">
              <a:ext uri="{FF2B5EF4-FFF2-40B4-BE49-F238E27FC236}">
                <a16:creationId xmlns:a16="http://schemas.microsoft.com/office/drawing/2014/main" id="{80B0587C-8EFE-45DB-B060-68566B76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381125"/>
            <a:ext cx="1476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4"/>
          </a:solidFill>
          <a:ln xmlns:a="http://schemas.openxmlformats.org/drawingml/2006/main" w="11906">
            <a:solidFill>
              <a:srgbClr val="31859C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D5965"/>
                </a:solidFill>
                <a:latin typeface="Arial"/>
                <a:ea typeface="Arial"/>
                <a:cs typeface="Arial"/>
              </a:rPr>
              <a:t>FastAPI Backend</a:t>
            </a:r>
          </a:p>
          <a:p xmlns:a="http://schemas.openxmlformats.org/drawingml/2006/main">
            <a:pPr algn="ctr">
              <a:defRPr sz="9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111111"/>
                </a:solidFill>
                <a:latin typeface="Arial"/>
                <a:ea typeface="Arial"/>
                <a:cs typeface="Arial"/>
              </a:rPr>
              <a:t>Routers, JWT, REST APIs</a:t>
            </a:r>
          </a:p>
        </p:txBody>
      </p:sp>
      <p:sp>
        <p:nvSpPr>
          <p:cNvPr id="5" name="services">
            <a:extLst xmlns:a="http://schemas.openxmlformats.org/drawingml/2006/main">
              <a:ext uri="{FF2B5EF4-FFF2-40B4-BE49-F238E27FC236}">
                <a16:creationId xmlns:a16="http://schemas.microsoft.com/office/drawing/2014/main" id="{4BEFB589-33FD-4384-918C-E8C34CEE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143000"/>
            <a:ext cx="16668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11906">
            <a:solidFill>
              <a:srgbClr val="8A8A8A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Application Services</a:t>
            </a:r>
          </a:p>
          <a:p xmlns:a="http://schemas.openxmlformats.org/drawingml/2006/main">
            <a:pPr algn="ctr">
              <a:defRPr sz="9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111111"/>
                </a:solidFill>
                <a:latin typeface="Arial"/>
                <a:ea typeface="Arial"/>
                <a:cs typeface="Arial"/>
              </a:rPr>
              <a:t>Resume/JD parsing</a:t>
            </a:r>
          </a:p>
          <a:p xmlns:a="http://schemas.openxmlformats.org/drawingml/2006/main">
            <a:pPr algn="ctr">
              <a:defRPr sz="9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111111"/>
                </a:solidFill>
                <a:latin typeface="Arial"/>
                <a:ea typeface="Arial"/>
                <a:cs typeface="Arial"/>
              </a:rPr>
              <a:t>Question generation</a:t>
            </a:r>
          </a:p>
          <a:p xmlns:a="http://schemas.openxmlformats.org/drawingml/2006/main">
            <a:pPr algn="ctr">
              <a:defRPr sz="9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111111"/>
                </a:solidFill>
                <a:latin typeface="Arial"/>
                <a:ea typeface="Arial"/>
                <a:cs typeface="Arial"/>
              </a:rPr>
              <a:t>Evaluation + adaptive logic</a:t>
            </a:r>
          </a:p>
        </p:txBody>
      </p:sp>
      <p:sp>
        <p:nvSpPr>
          <p:cNvPr id="6" name="embeddings">
            <a:extLst xmlns:a="http://schemas.openxmlformats.org/drawingml/2006/main">
              <a:ext uri="{FF2B5EF4-FFF2-40B4-BE49-F238E27FC236}">
                <a16:creationId xmlns:a16="http://schemas.microsoft.com/office/drawing/2014/main" id="{4DACAF21-4B36-4D80-8560-0CEC9E81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43000"/>
            <a:ext cx="18573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4"/>
          </a:solidFill>
          <a:ln xmlns:a="http://schemas.openxmlformats.org/drawingml/2006/main" w="11906">
            <a:solidFill>
              <a:srgbClr val="31859C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D5965"/>
                </a:solidFill>
                <a:latin typeface="Arial"/>
                <a:ea typeface="Arial"/>
                <a:cs typeface="Arial"/>
              </a:rPr>
              <a:t>Embeddings / RAG</a:t>
            </a:r>
          </a:p>
          <a:p xmlns:a="http://schemas.openxmlformats.org/drawingml/2006/main">
            <a:pPr algn="ctr">
              <a:defRPr sz="9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111111"/>
                </a:solidFill>
                <a:latin typeface="Arial"/>
                <a:ea typeface="Arial"/>
                <a:cs typeface="Arial"/>
              </a:rPr>
              <a:t>SentenceTransformers</a:t>
            </a:r>
          </a:p>
          <a:p xmlns:a="http://schemas.openxmlformats.org/drawingml/2006/main">
            <a:pPr algn="ctr">
              <a:defRPr sz="9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111111"/>
                </a:solidFill>
                <a:latin typeface="Arial"/>
                <a:ea typeface="Arial"/>
                <a:cs typeface="Arial"/>
              </a:rPr>
              <a:t>all-MiniLM-L6-v2</a:t>
            </a:r>
          </a:p>
        </p:txBody>
      </p:sp>
      <p:sp>
        <p:nvSpPr>
          <p:cNvPr id="7" name="groq">
            <a:extLst xmlns:a="http://schemas.openxmlformats.org/drawingml/2006/main">
              <a:ext uri="{FF2B5EF4-FFF2-40B4-BE49-F238E27FC236}">
                <a16:creationId xmlns:a16="http://schemas.microsoft.com/office/drawing/2014/main" id="{3398C5E0-E442-4972-8AAF-9DC56700C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143000"/>
            <a:ext cx="1571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BD9"/>
          </a:solidFill>
          <a:ln xmlns:a="http://schemas.openxmlformats.org/drawingml/2006/main" w="11906">
            <a:solidFill>
              <a:srgbClr val="E46C0A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46C0A"/>
                </a:solidFill>
                <a:latin typeface="Arial"/>
                <a:ea typeface="Arial"/>
                <a:cs typeface="Arial"/>
              </a:rPr>
              <a:t>Groq</a:t>
            </a:r>
          </a:p>
          <a:p xmlns:a="http://schemas.openxmlformats.org/drawingml/2006/main">
            <a:pPr algn="ctr">
              <a:defRPr sz="9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111111"/>
                </a:solidFill>
                <a:latin typeface="Arial"/>
                <a:ea typeface="Arial"/>
                <a:cs typeface="Arial"/>
              </a:rPr>
              <a:t>Question generation</a:t>
            </a:r>
          </a:p>
          <a:p xmlns:a="http://schemas.openxmlformats.org/drawingml/2006/main">
            <a:pPr algn="ctr">
              <a:defRPr sz="9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111111"/>
                </a:solidFill>
                <a:latin typeface="Arial"/>
                <a:ea typeface="Arial"/>
                <a:cs typeface="Arial"/>
              </a:rPr>
              <a:t>LLM evaluation</a:t>
            </a:r>
          </a:p>
        </p:txBody>
      </p:sp>
      <p:sp>
        <p:nvSpPr>
          <p:cNvPr id="8" name="chroma">
            <a:extLst xmlns:a="http://schemas.openxmlformats.org/drawingml/2006/main">
              <a:ext uri="{FF2B5EF4-FFF2-40B4-BE49-F238E27FC236}">
                <a16:creationId xmlns:a16="http://schemas.microsoft.com/office/drawing/2014/main" id="{8D1514AF-3BE3-4E4A-A8FB-770BF8ECE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86000"/>
            <a:ext cx="18573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4"/>
          </a:solidFill>
          <a:ln xmlns:a="http://schemas.openxmlformats.org/drawingml/2006/main" w="11906">
            <a:solidFill>
              <a:srgbClr val="31859C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D5965"/>
                </a:solidFill>
                <a:latin typeface="Arial"/>
                <a:ea typeface="Arial"/>
                <a:cs typeface="Arial"/>
              </a:rPr>
              <a:t>ChromaDB</a:t>
            </a:r>
          </a:p>
          <a:p xmlns:a="http://schemas.openxmlformats.org/drawingml/2006/main">
            <a:pPr algn="ctr">
              <a:defRPr sz="9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111111"/>
                </a:solidFill>
                <a:latin typeface="Arial"/>
                <a:ea typeface="Arial"/>
                <a:cs typeface="Arial"/>
              </a:rPr>
              <a:t>technical_kb + temporary syllabus collections</a:t>
            </a:r>
          </a:p>
        </p:txBody>
      </p:sp>
      <p:sp>
        <p:nvSpPr>
          <p:cNvPr id="9" name="mysql">
            <a:extLst xmlns:a="http://schemas.openxmlformats.org/drawingml/2006/main">
              <a:ext uri="{FF2B5EF4-FFF2-40B4-BE49-F238E27FC236}">
                <a16:creationId xmlns:a16="http://schemas.microsoft.com/office/drawing/2014/main" id="{C7891689-4A34-45BB-A3CD-740940411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286000"/>
            <a:ext cx="1571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11906">
            <a:solidFill>
              <a:srgbClr val="8A8A8A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MySQL</a:t>
            </a:r>
          </a:p>
          <a:p xmlns:a="http://schemas.openxmlformats.org/drawingml/2006/main">
            <a:pPr algn="ctr">
              <a:defRPr sz="9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111111"/>
                </a:solidFill>
                <a:latin typeface="Arial"/>
                <a:ea typeface="Arial"/>
                <a:cs typeface="Arial"/>
              </a:rPr>
              <a:t>Structured application records</a:t>
            </a:r>
          </a:p>
        </p:txBody>
      </p:sp>
      <p:sp>
        <p:nvSpPr>
          <p:cNvPr id="17" name="label-query">
            <a:extLst xmlns:a="http://schemas.openxmlformats.org/drawingml/2006/main">
              <a:ext uri="{FF2B5EF4-FFF2-40B4-BE49-F238E27FC236}">
                <a16:creationId xmlns:a16="http://schemas.microsoft.com/office/drawing/2014/main" id="{EAB37DBA-A1FF-4B4C-AE18-26A4E3572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36207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query</a:t>
            </a:r>
          </a:p>
        </p:txBody>
      </p:sp>
      <p:sp>
        <p:nvSpPr>
          <p:cNvPr id="18" name="label-context">
            <a:extLst xmlns:a="http://schemas.openxmlformats.org/drawingml/2006/main">
              <a:ext uri="{FF2B5EF4-FFF2-40B4-BE49-F238E27FC236}">
                <a16:creationId xmlns:a16="http://schemas.microsoft.com/office/drawing/2014/main" id="{A011988F-04FE-471C-9C39-F4B893FD9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526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context</a:t>
            </a:r>
          </a:p>
        </p:txBody>
      </p:sp>
      <p:sp>
        <p:nvSpPr>
          <p:cNvPr id="19" name="label-prompt">
            <a:extLst xmlns:a="http://schemas.openxmlformats.org/drawingml/2006/main">
              <a:ext uri="{FF2B5EF4-FFF2-40B4-BE49-F238E27FC236}">
                <a16:creationId xmlns:a16="http://schemas.microsoft.com/office/drawing/2014/main" id="{5CA36DA8-0D84-4BCE-87AB-8A656AC57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80975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prompt</a:t>
            </a:r>
          </a:p>
        </p:txBody>
      </p:sp>
      <p:sp>
        <p:nvSpPr>
          <p:cNvPr id="20" name="data-design-heading">
            <a:extLst xmlns:a="http://schemas.openxmlformats.org/drawingml/2006/main">
              <a:ext uri="{FF2B5EF4-FFF2-40B4-BE49-F238E27FC236}">
                <a16:creationId xmlns:a16="http://schemas.microsoft.com/office/drawing/2014/main" id="{DDE458BD-6046-4109-9A3F-DF021C080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596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D5965"/>
                </a:solidFill>
                <a:latin typeface="Arial"/>
                <a:ea typeface="Arial"/>
                <a:cs typeface="Arial"/>
              </a:rPr>
              <a:t>Data design: two stores, two workloads</a:t>
            </a:r>
          </a:p>
        </p:txBody>
      </p:sp>
      <p:sp>
        <p:nvSpPr>
          <p:cNvPr id="21" name="relational-store">
            <a:extLst xmlns:a="http://schemas.openxmlformats.org/drawingml/2006/main">
              <a:ext uri="{FF2B5EF4-FFF2-40B4-BE49-F238E27FC236}">
                <a16:creationId xmlns:a16="http://schemas.microsoft.com/office/drawing/2014/main" id="{D5AB7F24-769D-4BE9-8397-21BA47A26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14750"/>
            <a:ext cx="41910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8A8A8A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MySQL: structured application data</a:t>
            </a:r>
          </a:p>
          <a:p xmlns:a="http://schemas.openxmlformats.org/drawingml/2006/main">
            <a:pPr algn="l">
              <a:defRPr sz="11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11111"/>
                </a:solidFill>
                <a:latin typeface="Arial"/>
                <a:ea typeface="Arial"/>
                <a:cs typeface="Arial"/>
              </a:rPr>
              <a:t>Users</a:t>
            </a:r>
          </a:p>
          <a:p xmlns:a="http://schemas.openxmlformats.org/drawingml/2006/main">
            <a:pPr algn="l">
              <a:defRPr sz="11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11111"/>
                </a:solidFill>
                <a:latin typeface="Arial"/>
                <a:ea typeface="Arial"/>
                <a:cs typeface="Arial"/>
              </a:rPr>
              <a:t>Resumes and Job Descriptions</a:t>
            </a:r>
          </a:p>
          <a:p xmlns:a="http://schemas.openxmlformats.org/drawingml/2006/main">
            <a:pPr algn="l">
              <a:defRPr sz="11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11111"/>
                </a:solidFill>
                <a:latin typeface="Arial"/>
                <a:ea typeface="Arial"/>
                <a:cs typeface="Arial"/>
              </a:rPr>
              <a:t>Interview Sessions</a:t>
            </a:r>
          </a:p>
          <a:p xmlns:a="http://schemas.openxmlformats.org/drawingml/2006/main">
            <a:pPr algn="l">
              <a:defRPr sz="11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11111"/>
                </a:solidFill>
                <a:latin typeface="Arial"/>
                <a:ea typeface="Arial"/>
                <a:cs typeface="Arial"/>
              </a:rPr>
              <a:t>Interview Questions -&gt; Answers -&gt; Answer Evaluations</a:t>
            </a:r>
          </a:p>
        </p:txBody>
      </p:sp>
      <p:sp>
        <p:nvSpPr>
          <p:cNvPr id="22" name="vector-store">
            <a:extLst xmlns:a="http://schemas.openxmlformats.org/drawingml/2006/main">
              <a:ext uri="{FF2B5EF4-FFF2-40B4-BE49-F238E27FC236}">
                <a16:creationId xmlns:a16="http://schemas.microsoft.com/office/drawing/2014/main" id="{A6EBB9AF-7162-4A28-9205-F2FAB8975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14750"/>
            <a:ext cx="48577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31859C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D5965"/>
                </a:solidFill>
                <a:latin typeface="Arial"/>
                <a:ea typeface="Arial"/>
                <a:cs typeface="Arial"/>
              </a:rPr>
              <a:t>ChromaDB: semantic retrieval data</a:t>
            </a:r>
          </a:p>
          <a:p xmlns:a="http://schemas.openxmlformats.org/drawingml/2006/main">
            <a:pPr algn="l">
              <a:defRPr sz="11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11111"/>
                </a:solidFill>
                <a:latin typeface="Arial"/>
                <a:ea typeface="Arial"/>
                <a:cs typeface="Arial"/>
              </a:rPr>
              <a:t>technical_kb: persistent chunks, embeddings, and metadata</a:t>
            </a:r>
          </a:p>
          <a:p xmlns:a="http://schemas.openxmlformats.org/drawingml/2006/main">
            <a:pPr algn="l">
              <a:defRPr sz="11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11111"/>
                </a:solidFill>
                <a:latin typeface="Arial"/>
                <a:ea typeface="Arial"/>
                <a:cs typeface="Arial"/>
              </a:rPr>
              <a:t>temp_syllabus_&lt;id&gt;: isolated course chunks for one syllabus session</a:t>
            </a:r>
          </a:p>
          <a:p xmlns:a="http://schemas.openxmlformats.org/drawingml/2006/main">
            <a:pPr algn="l">
              <a:defRPr sz="11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11111"/>
                </a:solidFill>
                <a:latin typeface="Arial"/>
                <a:ea typeface="Arial"/>
                <a:cs typeface="Arial"/>
              </a:rPr>
              <a:t>Nearest-neighbor retrieval returns relevant context for question generation and evaluation</a:t>
            </a:r>
          </a:p>
        </p:txBody>
      </p:sp>
      <p:sp>
        <p:nvSpPr>
          <p:cNvPr id="23" name="data-design-note">
            <a:extLst xmlns:a="http://schemas.openxmlformats.org/drawingml/2006/main">
              <a:ext uri="{FF2B5EF4-FFF2-40B4-BE49-F238E27FC236}">
                <a16:creationId xmlns:a16="http://schemas.microsoft.com/office/drawing/2014/main" id="{675877FC-0F8F-4540-AE90-68B6ED076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6007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MySQL persists relational records. ChromaDB supports semantic similarity retrieval over embedding vectors. The design separates roles rather than treating RAG as simply an LLM plus a database.</a:t>
            </a:r>
          </a:p>
        </p:txBody>
      </p:sp>
    </p:spTree>
    <p:extLst>
      <p:ext uri="{BB962C8B-B14F-4D97-AF65-F5344CB8AC3E}">
        <p14:creationId xmlns:p14="http://schemas.microsoft.com/office/powerpoint/2010/main" val="35624443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9" name=""/>
          <p:cNvCxnSpPr>
            <a:stCxn xmlns:a="http://schemas.openxmlformats.org/drawingml/2006/main" id="32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8334375" y="48672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666666"/>
            </a:solidFill>
            <a:prstDash val="solid"/>
            <a:headEnd type="arrow" w="med" len="med"/>
          </a:ln>
        </p:spPr>
      </p:cxnSp>
      <p:cxnSp>
        <p:nvCxnSpPr>
          <p:cNvPr id="40" name=""/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6381750" y="48672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666666"/>
            </a:solidFill>
            <a:prstDash val="solid"/>
            <a:headEnd type="arrow" w="med" len="med"/>
          </a:ln>
        </p:spPr>
      </p:cxnSp>
      <p:cxnSp>
        <p:nvCxnSpPr>
          <p:cNvPr id="41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4286250" y="48672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666666"/>
            </a:solidFill>
            <a:prstDash val="solid"/>
            <a:headEnd type="arrow" w="med" len="med"/>
          </a:ln>
        </p:spPr>
      </p:cxnSp>
      <p:cxnSp>
        <p:nvCxnSpPr>
          <p:cNvPr id="42" name=""/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2333625" y="48672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666666"/>
            </a:solidFill>
            <a:prstDash val="solid"/>
            <a:headEnd type="arrow" w="med" len="med"/>
          </a:ln>
        </p:spPr>
      </p:cxnSp>
      <p:cxnSp>
        <p:nvCxnSpPr>
          <p:cNvPr id="43" name=""/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8048625" y="32385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666666"/>
            </a:solidFill>
            <a:prstDash val="solid"/>
            <a:headEnd type="arrow" w="med" len="med"/>
          </a:ln>
        </p:spPr>
      </p:cxnSp>
      <p:cxnSp>
        <p:nvCxnSpPr>
          <p:cNvPr id="44" name=""/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5524500" y="32385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666666"/>
            </a:solidFill>
            <a:prstDash val="solid"/>
            <a:headEnd type="arrow" w="med" len="med"/>
          </a:ln>
        </p:spPr>
      </p:cxnSp>
      <p:cxnSp>
        <p:nvCxnSpPr>
          <p:cNvPr id="45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3000375" y="32385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666666"/>
            </a:solidFill>
            <a:prstDash val="solid"/>
            <a:headEnd type="arrow" w="med" len="med"/>
          </a:ln>
        </p:spPr>
      </p:cxnSp>
      <p:cxnSp>
        <p:nvCxnSpPr>
          <p:cNvPr id="46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782175" y="1676400"/>
            <a:ext cx="14287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666666"/>
            </a:solidFill>
            <a:prstDash val="solid"/>
            <a:headEnd type="arrow" w="med" len="med"/>
          </a:ln>
        </p:spPr>
      </p:cxnSp>
      <p:cxnSp>
        <p:nvCxnSpPr>
          <p:cNvPr id="47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639175" y="1676400"/>
            <a:ext cx="14287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666666"/>
            </a:solidFill>
            <a:prstDash val="solid"/>
            <a:headEnd type="arrow" w="med" len="med"/>
          </a:ln>
        </p:spPr>
      </p:cxnSp>
      <p:cxnSp>
        <p:nvCxnSpPr>
          <p:cNvPr id="4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496175" y="1676400"/>
            <a:ext cx="14287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666666"/>
            </a:solidFill>
            <a:prstDash val="solid"/>
            <a:headEnd type="arrow" w="med" len="med"/>
          </a:ln>
        </p:spPr>
      </p:cxnSp>
      <p:cxnSp>
        <p:nvCxnSpPr>
          <p:cNvPr id="49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162675" y="1676400"/>
            <a:ext cx="14287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666666"/>
            </a:solidFill>
            <a:prstDash val="solid"/>
            <a:headEnd type="arrow" w="med" len="med"/>
          </a:ln>
        </p:spPr>
      </p:cxnSp>
      <p:cxnSp>
        <p:nvCxnSpPr>
          <p:cNvPr id="5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829175" y="1676400"/>
            <a:ext cx="14287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666666"/>
            </a:solidFill>
            <a:prstDash val="solid"/>
            <a:headEnd type="arrow" w="med" len="med"/>
          </a:ln>
        </p:spPr>
      </p:cxnSp>
      <p:cxnSp>
        <p:nvCxnSpPr>
          <p:cNvPr id="51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1676400"/>
            <a:ext cx="14287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666666"/>
            </a:solidFill>
            <a:prstDash val="solid"/>
            <a:headEnd type="arrow" w="med" len="med"/>
          </a:ln>
        </p:spPr>
      </p:cxnSp>
      <p:cxnSp>
        <p:nvCxnSpPr>
          <p:cNvPr id="52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476500" y="1676400"/>
            <a:ext cx="14287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666666"/>
            </a:solidFill>
            <a:prstDash val="solid"/>
            <a:headEnd type="arrow" w="med" len="med"/>
          </a:ln>
        </p:spPr>
      </p:cxnSp>
      <p:cxnSp>
        <p:nvCxnSpPr>
          <p:cNvPr id="53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1333500" y="1676400"/>
            <a:ext cx="14287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666666"/>
            </a:solidFill>
            <a:prstDash val="solid"/>
            <a:headEnd type="arrow" w="med" len="med"/>
          </a:ln>
        </p:spPr>
      </p:cxnSp>
      <p:sp>
        <p:nvSpPr>
          <p:cNvPr id="54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8758C7C8-00A2-4773-B9BD-502DA69EE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8" y="260985"/>
            <a:ext cx="10429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0000"/>
                </a:solidFill>
                <a:latin typeface="Arial"/>
                <a:ea typeface="Arial"/>
                <a:cs typeface="Arial"/>
              </a:rPr>
              <a:t>DEVELOPMENT</a:t>
            </a:r>
          </a:p>
        </p:txBody>
      </p:sp>
      <p:sp>
        <p:nvSpPr>
          <p:cNvPr id="2" name="syllabus-heading">
            <a:extLst xmlns:a="http://schemas.openxmlformats.org/drawingml/2006/main">
              <a:ext uri="{FF2B5EF4-FFF2-40B4-BE49-F238E27FC236}">
                <a16:creationId xmlns:a16="http://schemas.microsoft.com/office/drawing/2014/main" id="{8ED07316-13D5-4CF9-8E8D-42F5928A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8667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596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D5965"/>
                </a:solidFill>
                <a:latin typeface="Arial"/>
                <a:ea typeface="Arial"/>
                <a:cs typeface="Arial"/>
              </a:rPr>
              <a:t>Syllabus Mode: source-grounded RAG and adaptive progression</a:t>
            </a:r>
          </a:p>
        </p:txBody>
      </p:sp>
      <p:sp>
        <p:nvSpPr>
          <p:cNvPr id="3" name="syllabus-files">
            <a:extLst xmlns:a="http://schemas.openxmlformats.org/drawingml/2006/main">
              <a:ext uri="{FF2B5EF4-FFF2-40B4-BE49-F238E27FC236}">
                <a16:creationId xmlns:a16="http://schemas.microsoft.com/office/drawing/2014/main" id="{87EFA2E6-A401-4D4B-9062-2A42F12A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285875"/>
            <a:ext cx="10001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31859C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5965"/>
                </a:solidFill>
                <a:latin typeface="Arial"/>
                <a:ea typeface="Arial"/>
                <a:cs typeface="Arial"/>
              </a:rPr>
              <a:t>Syllabus files</a:t>
            </a:r>
          </a:p>
          <a:p xmlns:a="http://schemas.openxmlformats.org/drawingml/2006/main">
            <a:pPr algn="ctr">
              <a:defRPr sz="9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111111"/>
                </a:solidFill>
                <a:latin typeface="Arial"/>
                <a:ea typeface="Arial"/>
                <a:cs typeface="Arial"/>
              </a:rPr>
              <a:t>PDF / TXT / DOCX</a:t>
            </a:r>
          </a:p>
        </p:txBody>
      </p:sp>
      <p:sp>
        <p:nvSpPr>
          <p:cNvPr id="4" name="extract">
            <a:extLst xmlns:a="http://schemas.openxmlformats.org/drawingml/2006/main">
              <a:ext uri="{FF2B5EF4-FFF2-40B4-BE49-F238E27FC236}">
                <a16:creationId xmlns:a16="http://schemas.microsoft.com/office/drawing/2014/main" id="{C1C8FF7D-3A3A-49F9-B352-DF137508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85875"/>
            <a:ext cx="10001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31859C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5965"/>
                </a:solidFill>
                <a:latin typeface="Arial"/>
                <a:ea typeface="Arial"/>
                <a:cs typeface="Arial"/>
              </a:rPr>
              <a:t>Extract text</a:t>
            </a:r>
          </a:p>
          <a:p xmlns:a="http://schemas.openxmlformats.org/drawingml/2006/main">
            <a:pPr algn="ctr">
              <a:defRPr sz="9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111111"/>
                </a:solidFill>
                <a:latin typeface="Arial"/>
                <a:ea typeface="Arial"/>
                <a:cs typeface="Arial"/>
              </a:rPr>
              <a:t>PyMuPDF, DOCX, TXT</a:t>
            </a:r>
          </a:p>
        </p:txBody>
      </p:sp>
      <p:sp>
        <p:nvSpPr>
          <p:cNvPr id="5" name="chunk">
            <a:extLst xmlns:a="http://schemas.openxmlformats.org/drawingml/2006/main">
              <a:ext uri="{FF2B5EF4-FFF2-40B4-BE49-F238E27FC236}">
                <a16:creationId xmlns:a16="http://schemas.microsoft.com/office/drawing/2014/main" id="{6D2AF197-DC2F-481B-92C8-EE4A74123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285875"/>
            <a:ext cx="10001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31859C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5965"/>
                </a:solidFill>
                <a:latin typeface="Arial"/>
                <a:ea typeface="Arial"/>
                <a:cs typeface="Arial"/>
              </a:rPr>
              <a:t>Chunk text</a:t>
            </a:r>
          </a:p>
          <a:p xmlns:a="http://schemas.openxmlformats.org/drawingml/2006/main">
            <a:pPr algn="ctr">
              <a:defRPr sz="9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111111"/>
                </a:solidFill>
                <a:latin typeface="Arial"/>
                <a:ea typeface="Arial"/>
                <a:cs typeface="Arial"/>
              </a:rPr>
              <a:t>1,000 chars</a:t>
            </a:r>
          </a:p>
          <a:p xmlns:a="http://schemas.openxmlformats.org/drawingml/2006/main">
            <a:pPr algn="ctr">
              <a:defRPr sz="9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111111"/>
                </a:solidFill>
                <a:latin typeface="Arial"/>
                <a:ea typeface="Arial"/>
                <a:cs typeface="Arial"/>
              </a:rPr>
              <a:t>200 overlap</a:t>
            </a:r>
          </a:p>
        </p:txBody>
      </p:sp>
      <p:sp>
        <p:nvSpPr>
          <p:cNvPr id="6" name="embed-course">
            <a:extLst xmlns:a="http://schemas.openxmlformats.org/drawingml/2006/main">
              <a:ext uri="{FF2B5EF4-FFF2-40B4-BE49-F238E27FC236}">
                <a16:creationId xmlns:a16="http://schemas.microsoft.com/office/drawing/2014/main" id="{F90C618F-E0EC-4DA8-887E-31446E284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285875"/>
            <a:ext cx="1066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4"/>
          </a:solidFill>
          <a:ln xmlns:a="http://schemas.openxmlformats.org/drawingml/2006/main" w="11906">
            <a:solidFill>
              <a:srgbClr val="31859C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5965"/>
                </a:solidFill>
                <a:latin typeface="Arial"/>
                <a:ea typeface="Arial"/>
                <a:cs typeface="Arial"/>
              </a:rPr>
              <a:t>Embed</a:t>
            </a:r>
          </a:p>
          <a:p xmlns:a="http://schemas.openxmlformats.org/drawingml/2006/main">
            <a:pPr algn="ctr">
              <a:defRPr sz="9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111111"/>
                </a:solidFill>
                <a:latin typeface="Arial"/>
                <a:ea typeface="Arial"/>
                <a:cs typeface="Arial"/>
              </a:rPr>
              <a:t>SentenceTransformer</a:t>
            </a:r>
          </a:p>
        </p:txBody>
      </p:sp>
      <p:sp>
        <p:nvSpPr>
          <p:cNvPr id="7" name="temporary-chroma">
            <a:extLst xmlns:a="http://schemas.openxmlformats.org/drawingml/2006/main">
              <a:ext uri="{FF2B5EF4-FFF2-40B4-BE49-F238E27FC236}">
                <a16:creationId xmlns:a16="http://schemas.microsoft.com/office/drawing/2014/main" id="{52B80841-A9AE-4F23-9ED7-43FB4336F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285875"/>
            <a:ext cx="1190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4"/>
          </a:solidFill>
          <a:ln xmlns:a="http://schemas.openxmlformats.org/drawingml/2006/main" w="11906">
            <a:solidFill>
              <a:srgbClr val="31859C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5965"/>
                </a:solidFill>
                <a:latin typeface="Arial"/>
                <a:ea typeface="Arial"/>
                <a:cs typeface="Arial"/>
              </a:rPr>
              <a:t>Temporary ChromaDB</a:t>
            </a:r>
          </a:p>
          <a:p xmlns:a="http://schemas.openxmlformats.org/drawingml/2006/main">
            <a:pPr algn="ctr">
              <a:defRPr sz="9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111111"/>
                </a:solidFill>
                <a:latin typeface="Arial"/>
                <a:ea typeface="Arial"/>
                <a:cs typeface="Arial"/>
              </a:rPr>
              <a:t>temp_syllabus_&lt;id&gt;</a:t>
            </a:r>
          </a:p>
        </p:txBody>
      </p:sp>
      <p:sp>
        <p:nvSpPr>
          <p:cNvPr id="8" name="retrieve">
            <a:extLst xmlns:a="http://schemas.openxmlformats.org/drawingml/2006/main">
              <a:ext uri="{FF2B5EF4-FFF2-40B4-BE49-F238E27FC236}">
                <a16:creationId xmlns:a16="http://schemas.microsoft.com/office/drawing/2014/main" id="{355B58A8-09DE-46EC-88FD-6419C34B8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285875"/>
            <a:ext cx="1190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31859C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5965"/>
                </a:solidFill>
                <a:latin typeface="Arial"/>
                <a:ea typeface="Arial"/>
                <a:cs typeface="Arial"/>
              </a:rPr>
              <a:t>Retrieve context</a:t>
            </a:r>
          </a:p>
          <a:p xmlns:a="http://schemas.openxmlformats.org/drawingml/2006/main">
            <a:pPr algn="ctr">
              <a:defRPr sz="9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111111"/>
                </a:solidFill>
                <a:latin typeface="Arial"/>
                <a:ea typeface="Arial"/>
                <a:cs typeface="Arial"/>
              </a:rPr>
              <a:t>Topic query +</a:t>
            </a:r>
          </a:p>
          <a:p xmlns:a="http://schemas.openxmlformats.org/drawingml/2006/main">
            <a:pPr algn="ctr">
              <a:defRPr sz="9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111111"/>
                </a:solidFill>
                <a:latin typeface="Arial"/>
                <a:ea typeface="Arial"/>
                <a:cs typeface="Arial"/>
              </a:rPr>
              <a:t>top 3 chunks</a:t>
            </a:r>
          </a:p>
        </p:txBody>
      </p:sp>
      <p:sp>
        <p:nvSpPr>
          <p:cNvPr id="9" name="question-llm">
            <a:extLst xmlns:a="http://schemas.openxmlformats.org/drawingml/2006/main">
              <a:ext uri="{FF2B5EF4-FFF2-40B4-BE49-F238E27FC236}">
                <a16:creationId xmlns:a16="http://schemas.microsoft.com/office/drawing/2014/main" id="{BFDDE049-B761-49EB-A48A-FB8B66022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285875"/>
            <a:ext cx="10001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BD9"/>
          </a:solidFill>
          <a:ln xmlns:a="http://schemas.openxmlformats.org/drawingml/2006/main" w="11906">
            <a:solidFill>
              <a:srgbClr val="E46C0A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46C0A"/>
                </a:solidFill>
                <a:latin typeface="Arial"/>
                <a:ea typeface="Arial"/>
                <a:cs typeface="Arial"/>
              </a:rPr>
              <a:t>Groq</a:t>
            </a:r>
          </a:p>
          <a:p xmlns:a="http://schemas.openxmlformats.org/drawingml/2006/main">
            <a:pPr algn="ctr">
              <a:defRPr sz="9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111111"/>
                </a:solidFill>
                <a:latin typeface="Arial"/>
                <a:ea typeface="Arial"/>
                <a:cs typeface="Arial"/>
              </a:rPr>
              <a:t>One grounded question</a:t>
            </a:r>
          </a:p>
        </p:txBody>
      </p:sp>
      <p:sp>
        <p:nvSpPr>
          <p:cNvPr id="10" name="evaluation">
            <a:extLst xmlns:a="http://schemas.openxmlformats.org/drawingml/2006/main">
              <a:ext uri="{FF2B5EF4-FFF2-40B4-BE49-F238E27FC236}">
                <a16:creationId xmlns:a16="http://schemas.microsoft.com/office/drawing/2014/main" id="{BFE295D3-D656-4C1F-A3AD-7FF625746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285875"/>
            <a:ext cx="10001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11906">
            <a:solidFill>
              <a:srgbClr val="8A8A8A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Evaluate</a:t>
            </a:r>
          </a:p>
          <a:p xmlns:a="http://schemas.openxmlformats.org/drawingml/2006/main">
            <a:pPr algn="ctr">
              <a:defRPr sz="9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111111"/>
                </a:solidFill>
                <a:latin typeface="Arial"/>
                <a:ea typeface="Arial"/>
                <a:cs typeface="Arial"/>
              </a:rPr>
              <a:t>Candidate answer</a:t>
            </a:r>
          </a:p>
        </p:txBody>
      </p:sp>
      <p:sp>
        <p:nvSpPr>
          <p:cNvPr id="11" name="adapt">
            <a:extLst xmlns:a="http://schemas.openxmlformats.org/drawingml/2006/main">
              <a:ext uri="{FF2B5EF4-FFF2-40B4-BE49-F238E27FC236}">
                <a16:creationId xmlns:a16="http://schemas.microsoft.com/office/drawing/2014/main" id="{F61DCCBB-50C1-44EC-B9C7-40B6C0BEB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285875"/>
            <a:ext cx="10001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11906">
            <a:solidFill>
              <a:srgbClr val="8A8A8A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Adapt</a:t>
            </a:r>
          </a:p>
          <a:p xmlns:a="http://schemas.openxmlformats.org/drawingml/2006/main">
            <a:pPr algn="ctr">
              <a:defRPr sz="9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111111"/>
                </a:solidFill>
                <a:latin typeface="Arial"/>
                <a:ea typeface="Arial"/>
                <a:cs typeface="Arial"/>
              </a:rPr>
              <a:t>Next topic and level</a:t>
            </a:r>
          </a:p>
        </p:txBody>
      </p:sp>
      <p:sp>
        <p:nvSpPr>
          <p:cNvPr id="20" name="rag-components-heading">
            <a:extLst xmlns:a="http://schemas.openxmlformats.org/drawingml/2006/main">
              <a:ext uri="{FF2B5EF4-FFF2-40B4-BE49-F238E27FC236}">
                <a16:creationId xmlns:a16="http://schemas.microsoft.com/office/drawing/2014/main" id="{41A30375-787C-4F9E-9F75-2728D6C3D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2887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596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D5965"/>
                </a:solidFill>
                <a:latin typeface="Arial"/>
                <a:ea typeface="Arial"/>
                <a:cs typeface="Arial"/>
              </a:rPr>
              <a:t>RAG component roles</a:t>
            </a:r>
          </a:p>
        </p:txBody>
      </p:sp>
      <p:sp>
        <p:nvSpPr>
          <p:cNvPr id="21" name="knowledge-base-role">
            <a:extLst xmlns:a="http://schemas.openxmlformats.org/drawingml/2006/main">
              <a:ext uri="{FF2B5EF4-FFF2-40B4-BE49-F238E27FC236}">
                <a16:creationId xmlns:a16="http://schemas.microsoft.com/office/drawing/2014/main" id="{79C490B5-A90E-45C0-8081-614A2FFE4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2333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8A8A8A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Knowledge base</a:t>
            </a:r>
          </a:p>
          <a:p xmlns:a="http://schemas.openxmlformats.org/drawingml/2006/main">
            <a:pPr algn="ctr">
              <a:defRPr sz="10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Technical or syllabus source chunks</a:t>
            </a:r>
          </a:p>
        </p:txBody>
      </p:sp>
      <p:sp>
        <p:nvSpPr>
          <p:cNvPr id="22" name="vector-db-role">
            <a:extLst xmlns:a="http://schemas.openxmlformats.org/drawingml/2006/main">
              <a:ext uri="{FF2B5EF4-FFF2-40B4-BE49-F238E27FC236}">
                <a16:creationId xmlns:a16="http://schemas.microsoft.com/office/drawing/2014/main" id="{80FD7CFD-9DBC-4B2B-99CE-85440D709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762250"/>
            <a:ext cx="2333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4"/>
          </a:solidFill>
          <a:ln xmlns:a="http://schemas.openxmlformats.org/drawingml/2006/main" w="11906">
            <a:solidFill>
              <a:srgbClr val="31859C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D5965"/>
                </a:solidFill>
                <a:latin typeface="Arial"/>
                <a:ea typeface="Arial"/>
                <a:cs typeface="Arial"/>
              </a:rPr>
              <a:t>Vector database</a:t>
            </a:r>
          </a:p>
          <a:p xmlns:a="http://schemas.openxmlformats.org/drawingml/2006/main">
            <a:pPr algn="ctr">
              <a:defRPr sz="10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ChromaDB stores embeddings with text and metadata</a:t>
            </a:r>
          </a:p>
        </p:txBody>
      </p:sp>
      <p:sp>
        <p:nvSpPr>
          <p:cNvPr id="23" name="retriever-role">
            <a:extLst xmlns:a="http://schemas.openxmlformats.org/drawingml/2006/main">
              <a:ext uri="{FF2B5EF4-FFF2-40B4-BE49-F238E27FC236}">
                <a16:creationId xmlns:a16="http://schemas.microsoft.com/office/drawing/2014/main" id="{D7F75A23-F6B0-4C9F-BBDB-6E89ADBFF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62250"/>
            <a:ext cx="2333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8A8A8A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Retriever</a:t>
            </a:r>
          </a:p>
          <a:p xmlns:a="http://schemas.openxmlformats.org/drawingml/2006/main">
            <a:pPr algn="ctr">
              <a:defRPr sz="10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Embeds the query and finds similar chunks</a:t>
            </a:r>
          </a:p>
        </p:txBody>
      </p:sp>
      <p:sp>
        <p:nvSpPr>
          <p:cNvPr id="24" name="llm-role">
            <a:extLst xmlns:a="http://schemas.openxmlformats.org/drawingml/2006/main">
              <a:ext uri="{FF2B5EF4-FFF2-40B4-BE49-F238E27FC236}">
                <a16:creationId xmlns:a16="http://schemas.microsoft.com/office/drawing/2014/main" id="{2D9714EA-F48D-46F1-99FE-2E181CC10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62250"/>
            <a:ext cx="2333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BD9"/>
          </a:solidFill>
          <a:ln xmlns:a="http://schemas.openxmlformats.org/drawingml/2006/main" w="11906">
            <a:solidFill>
              <a:srgbClr val="E46C0A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46C0A"/>
                </a:solidFill>
                <a:latin typeface="Arial"/>
                <a:ea typeface="Arial"/>
                <a:cs typeface="Arial"/>
              </a:rPr>
              <a:t>LLM</a:t>
            </a:r>
          </a:p>
          <a:p xmlns:a="http://schemas.openxmlformats.org/drawingml/2006/main">
            <a:pPr algn="ctr">
              <a:defRPr sz="10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Groq receives retrieved context and generates one question</a:t>
            </a:r>
          </a:p>
        </p:txBody>
      </p:sp>
      <p:sp>
        <p:nvSpPr>
          <p:cNvPr id="28" name="merge-heading">
            <a:extLst xmlns:a="http://schemas.openxmlformats.org/drawingml/2006/main">
              <a:ext uri="{FF2B5EF4-FFF2-40B4-BE49-F238E27FC236}">
                <a16:creationId xmlns:a16="http://schemas.microsoft.com/office/drawing/2014/main" id="{0BD925F3-0EC8-4F6C-9298-A99007030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957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596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D5965"/>
                </a:solidFill>
                <a:latin typeface="Arial"/>
                <a:ea typeface="Arial"/>
                <a:cs typeface="Arial"/>
              </a:rPr>
              <a:t>At interview completion</a:t>
            </a:r>
          </a:p>
        </p:txBody>
      </p:sp>
      <p:sp>
        <p:nvSpPr>
          <p:cNvPr id="29" name="merge-temp">
            <a:extLst xmlns:a="http://schemas.openxmlformats.org/drawingml/2006/main">
              <a:ext uri="{FF2B5EF4-FFF2-40B4-BE49-F238E27FC236}">
                <a16:creationId xmlns:a16="http://schemas.microsoft.com/office/drawing/2014/main" id="{DB620FCE-2965-48B4-B401-1C2A26ADC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29125"/>
            <a:ext cx="16668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4"/>
          </a:solidFill>
          <a:ln xmlns:a="http://schemas.openxmlformats.org/drawingml/2006/main" w="11906">
            <a:solidFill>
              <a:srgbClr val="31859C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D5965"/>
                </a:solidFill>
                <a:latin typeface="Arial"/>
                <a:ea typeface="Arial"/>
                <a:cs typeface="Arial"/>
              </a:rPr>
              <a:t>Temporary collection</a:t>
            </a:r>
          </a:p>
          <a:p xmlns:a="http://schemas.openxmlformats.org/drawingml/2006/main">
            <a:pPr algn="ctr">
              <a:defRPr sz="9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111111"/>
                </a:solidFill>
                <a:latin typeface="Arial"/>
                <a:ea typeface="Arial"/>
                <a:cs typeface="Arial"/>
              </a:rPr>
              <a:t>Course chunks and embeddings</a:t>
            </a:r>
          </a:p>
        </p:txBody>
      </p:sp>
      <p:sp>
        <p:nvSpPr>
          <p:cNvPr id="30" name="merge-exact">
            <a:extLst xmlns:a="http://schemas.openxmlformats.org/drawingml/2006/main">
              <a:ext uri="{FF2B5EF4-FFF2-40B4-BE49-F238E27FC236}">
                <a16:creationId xmlns:a16="http://schemas.microsoft.com/office/drawing/2014/main" id="{63579E67-7FB1-493B-9B9E-2B95A415E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429125"/>
            <a:ext cx="16668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8A8A8A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Exact deduplication</a:t>
            </a:r>
          </a:p>
          <a:p xmlns:a="http://schemas.openxmlformats.org/drawingml/2006/main">
            <a:pPr algn="ctr">
              <a:defRPr sz="9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111111"/>
                </a:solidFill>
                <a:latin typeface="Arial"/>
                <a:ea typeface="Arial"/>
                <a:cs typeface="Arial"/>
              </a:rPr>
              <a:t>Normalized text SHA-256 hash</a:t>
            </a:r>
          </a:p>
        </p:txBody>
      </p:sp>
      <p:sp>
        <p:nvSpPr>
          <p:cNvPr id="31" name="merge-semantic">
            <a:extLst xmlns:a="http://schemas.openxmlformats.org/drawingml/2006/main">
              <a:ext uri="{FF2B5EF4-FFF2-40B4-BE49-F238E27FC236}">
                <a16:creationId xmlns:a16="http://schemas.microsoft.com/office/drawing/2014/main" id="{74ED47C8-B262-4E57-A008-194F5F2F3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29125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8A8A8A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Semantic near-duplicate</a:t>
            </a:r>
          </a:p>
          <a:p xmlns:a="http://schemas.openxmlformats.org/drawingml/2006/main">
            <a:pPr algn="ctr">
              <a:defRPr sz="9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111111"/>
                </a:solidFill>
                <a:latin typeface="Arial"/>
                <a:ea typeface="Arial"/>
                <a:cs typeface="Arial"/>
              </a:rPr>
              <a:t>Skip if Chroma distance is below 0.10</a:t>
            </a:r>
          </a:p>
        </p:txBody>
      </p:sp>
      <p:sp>
        <p:nvSpPr>
          <p:cNvPr id="32" name="merge-permanent">
            <a:extLst xmlns:a="http://schemas.openxmlformats.org/drawingml/2006/main">
              <a:ext uri="{FF2B5EF4-FFF2-40B4-BE49-F238E27FC236}">
                <a16:creationId xmlns:a16="http://schemas.microsoft.com/office/drawing/2014/main" id="{5AB3DA67-12AD-4AF5-8469-ABC7A61C3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29125"/>
            <a:ext cx="16668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4"/>
          </a:solidFill>
          <a:ln xmlns:a="http://schemas.openxmlformats.org/drawingml/2006/main" w="11906">
            <a:solidFill>
              <a:srgbClr val="31859C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D5965"/>
                </a:solidFill>
                <a:latin typeface="Arial"/>
                <a:ea typeface="Arial"/>
                <a:cs typeface="Arial"/>
              </a:rPr>
              <a:t>Permanent knowledge</a:t>
            </a:r>
          </a:p>
          <a:p xmlns:a="http://schemas.openxmlformats.org/drawingml/2006/main">
            <a:pPr algn="ctr">
              <a:defRPr sz="9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111111"/>
                </a:solidFill>
                <a:latin typeface="Arial"/>
                <a:ea typeface="Arial"/>
                <a:cs typeface="Arial"/>
              </a:rPr>
              <a:t>Upsert new chunks into technical_kb</a:t>
            </a:r>
          </a:p>
        </p:txBody>
      </p:sp>
      <p:sp>
        <p:nvSpPr>
          <p:cNvPr id="33" name="merge-cleanup">
            <a:extLst xmlns:a="http://schemas.openxmlformats.org/drawingml/2006/main">
              <a:ext uri="{FF2B5EF4-FFF2-40B4-BE49-F238E27FC236}">
                <a16:creationId xmlns:a16="http://schemas.microsoft.com/office/drawing/2014/main" id="{7F874985-3104-473B-9AB0-D5028FBE0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429125"/>
            <a:ext cx="16668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11906">
            <a:solidFill>
              <a:srgbClr val="8A8A8A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Cleanup</a:t>
            </a:r>
          </a:p>
          <a:p xmlns:a="http://schemas.openxmlformats.org/drawingml/2006/main">
            <a:pPr algn="ctr">
              <a:defRPr sz="9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111111"/>
                </a:solidFill>
                <a:latin typeface="Arial"/>
                <a:ea typeface="Arial"/>
                <a:cs typeface="Arial"/>
              </a:rPr>
              <a:t>Delete temp_syllabus_&lt;id&gt;</a:t>
            </a:r>
          </a:p>
        </p:txBody>
      </p:sp>
      <p:sp>
        <p:nvSpPr>
          <p:cNvPr id="38" name="development-note">
            <a:extLst xmlns:a="http://schemas.openxmlformats.org/drawingml/2006/main">
              <a:ext uri="{FF2B5EF4-FFF2-40B4-BE49-F238E27FC236}">
                <a16:creationId xmlns:a16="http://schemas.microsoft.com/office/drawing/2014/main" id="{BEB9DDCA-636D-44F8-A844-FD4894CC1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0070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Normal Mode uses the same embedding model and domain-filtered technical_kb retrieval for resume and Job Description selected skills. The adaptive engine advances above 80, maintains at 50-79, and regresses below 50.</a:t>
            </a:r>
          </a:p>
        </p:txBody>
      </p:sp>
    </p:spTree>
    <p:extLst>
      <p:ext uri="{BB962C8B-B14F-4D97-AF65-F5344CB8AC3E}">
        <p14:creationId xmlns:p14="http://schemas.microsoft.com/office/powerpoint/2010/main" val="295051656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20FC7CD0-5507-4371-AA94-680877F4D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8" y="260985"/>
            <a:ext cx="10429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0000"/>
                </a:solidFill>
                <a:latin typeface="Arial"/>
                <a:ea typeface="Arial"/>
                <a:cs typeface="Arial"/>
              </a:rPr>
              <a:t>PROJECT OUTCOME</a:t>
            </a:r>
          </a:p>
        </p:txBody>
      </p:sp>
      <p:sp>
        <p:nvSpPr>
          <p:cNvPr id="2" name="implemented-outcome">
            <a:extLst xmlns:a="http://schemas.openxmlformats.org/drawingml/2006/main">
              <a:ext uri="{FF2B5EF4-FFF2-40B4-BE49-F238E27FC236}">
                <a16:creationId xmlns:a16="http://schemas.microsoft.com/office/drawing/2014/main" id="{33CE90EB-5AF8-428C-97F1-04FF5AD23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19200"/>
            <a:ext cx="3143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31859C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D5965"/>
                </a:solidFill>
                <a:latin typeface="Arial"/>
                <a:ea typeface="Arial"/>
                <a:cs typeface="Arial"/>
              </a:rPr>
              <a:t>Currently implemented</a:t>
            </a:r>
          </a:p>
          <a:p xmlns:a="http://schemas.openxmlformats.org/drawingml/2006/main">
            <a:pPr algn="l">
              <a:defRPr sz="11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11111"/>
                </a:solidFill>
                <a:latin typeface="Arial"/>
                <a:ea typeface="Arial"/>
                <a:cs typeface="Arial"/>
              </a:rPr>
              <a:t>Two interview modes: Resume + Job Description and Syllabus Mode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11111"/>
                </a:solidFill>
                <a:latin typeface="Arial"/>
                <a:ea typeface="Arial"/>
                <a:cs typeface="Arial"/>
              </a:rPr>
              <a:t>RAG-grounded questions with ChromaDB and all-MiniLM-L6-v2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11111"/>
                </a:solidFill>
                <a:latin typeface="Arial"/>
                <a:ea typeface="Arial"/>
                <a:cs typeface="Arial"/>
              </a:rPr>
              <a:t>Deterministic Bloom and difficulty progression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11111"/>
                </a:solidFill>
                <a:latin typeface="Arial"/>
                <a:ea typeface="Arial"/>
                <a:cs typeface="Arial"/>
              </a:rPr>
              <a:t>Multi-signal evaluations, result views, history, dashboard, and PDF report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11111"/>
                </a:solidFill>
                <a:latin typeface="Arial"/>
                <a:ea typeface="Arial"/>
                <a:cs typeface="Arial"/>
              </a:rPr>
              <a:t>Voice: edge-tts and Groq Whisper</a:t>
            </a:r>
          </a:p>
        </p:txBody>
      </p:sp>
      <p:sp>
        <p:nvSpPr>
          <p:cNvPr id="3" name="challenges">
            <a:extLst xmlns:a="http://schemas.openxmlformats.org/drawingml/2006/main">
              <a:ext uri="{FF2B5EF4-FFF2-40B4-BE49-F238E27FC236}">
                <a16:creationId xmlns:a16="http://schemas.microsoft.com/office/drawing/2014/main" id="{C6593C49-F8B1-44C6-8BB7-FD4FB50C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219200"/>
            <a:ext cx="3143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E46C0A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E46C0A"/>
                </a:solidFill>
                <a:latin typeface="Arial"/>
                <a:ea typeface="Arial"/>
                <a:cs typeface="Arial"/>
              </a:rPr>
              <a:t>Challenges observed</a:t>
            </a:r>
          </a:p>
          <a:p xmlns:a="http://schemas.openxmlformats.org/drawingml/2006/main">
            <a:pPr algn="l">
              <a:defRPr sz="12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111"/>
                </a:solidFill>
                <a:latin typeface="Arial"/>
                <a:ea typeface="Arial"/>
                <a:cs typeface="Arial"/>
              </a:rPr>
              <a:t>Question generation, LLM evaluation, and speech transcription depend on Groq service availability.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active syllabus mapping is process memory, so it does not survive a backend restart.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repository contains no automated test suite.</a:t>
            </a:r>
          </a:p>
        </p:txBody>
      </p:sp>
      <p:sp>
        <p:nvSpPr>
          <p:cNvPr id="4" name="improvements">
            <a:extLst xmlns:a="http://schemas.openxmlformats.org/drawingml/2006/main">
              <a:ext uri="{FF2B5EF4-FFF2-40B4-BE49-F238E27FC236}">
                <a16:creationId xmlns:a16="http://schemas.microsoft.com/office/drawing/2014/main" id="{20361630-F88D-455E-8405-D48A88119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219200"/>
            <a:ext cx="3143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8A8A8A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Improvement opportunities</a:t>
            </a:r>
          </a:p>
          <a:p xmlns:a="http://schemas.openxmlformats.org/drawingml/2006/main">
            <a:pPr algn="l">
              <a:defRPr sz="12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111"/>
                </a:solidFill>
                <a:latin typeface="Arial"/>
                <a:ea typeface="Arial"/>
                <a:cs typeface="Arial"/>
              </a:rPr>
              <a:t>Persist active syllabus state in MySQL.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111"/>
                </a:solidFill>
                <a:latin typeface="Arial"/>
                <a:ea typeface="Arial"/>
                <a:cs typeface="Arial"/>
              </a:rPr>
              <a:t>Add unit, integration, and end-to-end test coverage.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111"/>
                </a:solidFill>
                <a:latin typeface="Arial"/>
                <a:ea typeface="Arial"/>
                <a:cs typeface="Arial"/>
              </a:rPr>
              <a:t>Add deployment, monitoring, and resilience work suitable for production 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111"/>
                </a:solidFill>
                <a:latin typeface="Arial"/>
                <a:ea typeface="Arial"/>
                <a:cs typeface="Arial"/>
              </a:rPr>
              <a:t>Evaluate user outcomes with a defined study before making performance claims.</a:t>
            </a:r>
          </a:p>
        </p:txBody>
      </p:sp>
      <p:sp>
        <p:nvSpPr>
          <p:cNvPr id="5" name="publication-status">
            <a:extLst xmlns:a="http://schemas.openxmlformats.org/drawingml/2006/main">
              <a:ext uri="{FF2B5EF4-FFF2-40B4-BE49-F238E27FC236}">
                <a16:creationId xmlns:a16="http://schemas.microsoft.com/office/drawing/2014/main" id="{4EDC1FB2-27B8-4CBD-8A96-9C2FB1EE8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340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Publication status: the two supplied base papers are related work. No SmartInterview publication or patent is documented in the current repository.</a:t>
            </a:r>
          </a:p>
        </p:txBody>
      </p:sp>
    </p:spTree>
    <p:extLst>
      <p:ext uri="{BB962C8B-B14F-4D97-AF65-F5344CB8AC3E}">
        <p14:creationId xmlns:p14="http://schemas.microsoft.com/office/powerpoint/2010/main" val="363739754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5D896B61-4FC8-4CB1-B8D6-32F90A78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8" y="260985"/>
            <a:ext cx="10429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0000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2" name="conclusion-summary">
            <a:extLst xmlns:a="http://schemas.openxmlformats.org/drawingml/2006/main">
              <a:ext uri="{FF2B5EF4-FFF2-40B4-BE49-F238E27FC236}">
                <a16:creationId xmlns:a16="http://schemas.microsoft.com/office/drawing/2014/main" id="{478D0402-0EF4-4E92-82C0-384DA20B1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1049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D596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D5965"/>
                </a:solidFill>
                <a:latin typeface="Arial"/>
                <a:ea typeface="Arial"/>
                <a:cs typeface="Arial"/>
              </a:rPr>
              <a:t>SmartInterview combines a full-stack interview application with source-grounded RAG, deterministic adaptation, and persistent review data.</a:t>
            </a:r>
          </a:p>
        </p:txBody>
      </p:sp>
      <p:sp>
        <p:nvSpPr>
          <p:cNvPr id="3" name="conclusion-bullets">
            <a:extLst xmlns:a="http://schemas.openxmlformats.org/drawingml/2006/main">
              <a:ext uri="{FF2B5EF4-FFF2-40B4-BE49-F238E27FC236}">
                <a16:creationId xmlns:a16="http://schemas.microsoft.com/office/drawing/2014/main" id="{04373656-3032-4EBB-AB41-CC2FD03E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695450"/>
            <a:ext cx="9096375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14300">
              <a:spcAft>
                <a:spcPts val="1000"/>
              </a:spcAft>
              <a:buChar char="•"/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11111"/>
                </a:solidFill>
                <a:latin typeface="Arial"/>
                <a:ea typeface="Arial"/>
                <a:cs typeface="Arial"/>
              </a:rPr>
              <a:t>RAG flow: source chunks become embeddings, ChromaDB retrieves similar content, and retrieved context grounds the Groq question prompt.</a:t>
            </a:r>
          </a:p>
          <a:p xmlns:a="http://schemas.openxmlformats.org/drawingml/2006/main">
            <a:pPr marL="254000" indent="-114300">
              <a:spcAft>
                <a:spcPts val="1000"/>
              </a:spcAft>
              <a:buChar char="•"/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11111"/>
                </a:solidFill>
                <a:latin typeface="Arial"/>
                <a:ea typeface="Arial"/>
                <a:cs typeface="Arial"/>
              </a:rPr>
              <a:t>MySQL stores user and interview relationships. ChromaDB stores semantic knowledge chunks for similarity retrieval.</a:t>
            </a:r>
          </a:p>
          <a:p xmlns:a="http://schemas.openxmlformats.org/drawingml/2006/main">
            <a:pPr marL="254000" indent="-114300">
              <a:spcAft>
                <a:spcPts val="1000"/>
              </a:spcAft>
              <a:buChar char="•"/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11111"/>
                </a:solidFill>
                <a:latin typeface="Arial"/>
                <a:ea typeface="Arial"/>
                <a:cs typeface="Arial"/>
              </a:rPr>
              <a:t>Syllabus Mode creates an isolated temporary knowledge base, uses it for the session, filters duplicate knowledge after completion, then removes the temporary collection.</a:t>
            </a:r>
          </a:p>
          <a:p xmlns:a="http://schemas.openxmlformats.org/drawingml/2006/main">
            <a:pPr marL="254000" indent="-114300">
              <a:spcAft>
                <a:spcPts val="1000"/>
              </a:spcAft>
              <a:buChar char="•"/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project developed practical skills in React, FastAPI, JWT, SQLAlchemy/MySQL, RAG, ChromaDB, SentenceTransformers, Groq, reporting, text-to-speech, and speech-to-text.</a:t>
            </a:r>
          </a:p>
        </p:txBody>
      </p:sp>
      <p:sp>
        <p:nvSpPr>
          <p:cNvPr id="4" name="demo-heading">
            <a:extLst xmlns:a="http://schemas.openxmlformats.org/drawingml/2006/main">
              <a:ext uri="{FF2B5EF4-FFF2-40B4-BE49-F238E27FC236}">
                <a16:creationId xmlns:a16="http://schemas.microsoft.com/office/drawing/2014/main" id="{44E4555E-497A-42D3-AFC4-2DCD42DC2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57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596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D5965"/>
                </a:solidFill>
                <a:latin typeface="Arial"/>
                <a:ea typeface="Arial"/>
                <a:cs typeface="Arial"/>
              </a:rPr>
              <a:t>Demo deployment URL</a:t>
            </a:r>
          </a:p>
        </p:txBody>
      </p:sp>
      <p:sp>
        <p:nvSpPr>
          <p:cNvPr id="5" name="demo-status">
            <a:extLst xmlns:a="http://schemas.openxmlformats.org/drawingml/2006/main">
              <a:ext uri="{FF2B5EF4-FFF2-40B4-BE49-F238E27FC236}">
                <a16:creationId xmlns:a16="http://schemas.microsoft.com/office/drawing/2014/main" id="{5E802A72-9D38-437E-A0EA-C4072C149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143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None documented in the current repository</a:t>
            </a:r>
          </a:p>
        </p:txBody>
      </p:sp>
      <p:sp>
        <p:nvSpPr>
          <p:cNvPr id="6" name="research-heading">
            <a:extLst xmlns:a="http://schemas.openxmlformats.org/drawingml/2006/main">
              <a:ext uri="{FF2B5EF4-FFF2-40B4-BE49-F238E27FC236}">
                <a16:creationId xmlns:a16="http://schemas.microsoft.com/office/drawing/2014/main" id="{973E6131-A43F-493F-AF06-6E0491299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577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596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D5965"/>
                </a:solidFill>
                <a:latin typeface="Arial"/>
                <a:ea typeface="Arial"/>
                <a:cs typeface="Arial"/>
              </a:rPr>
              <a:t>Research disclosure</a:t>
            </a:r>
          </a:p>
        </p:txBody>
      </p:sp>
      <p:sp>
        <p:nvSpPr>
          <p:cNvPr id="7" name="research-status">
            <a:extLst xmlns:a="http://schemas.openxmlformats.org/drawingml/2006/main">
              <a:ext uri="{FF2B5EF4-FFF2-40B4-BE49-F238E27FC236}">
                <a16:creationId xmlns:a16="http://schemas.microsoft.com/office/drawing/2014/main" id="{D0C0B279-875B-46CD-9ABE-94F7561F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43500"/>
            <a:ext cx="438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Base papers provide background. No project publication or patent is documented in the supplied repository.</a:t>
            </a:r>
          </a:p>
        </p:txBody>
      </p:sp>
    </p:spTree>
    <p:extLst>
      <p:ext uri="{BB962C8B-B14F-4D97-AF65-F5344CB8AC3E}">
        <p14:creationId xmlns:p14="http://schemas.microsoft.com/office/powerpoint/2010/main" val="114654361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hank-you">
            <a:extLst xmlns:a="http://schemas.openxmlformats.org/drawingml/2006/main">
              <a:ext uri="{FF2B5EF4-FFF2-40B4-BE49-F238E27FC236}">
                <a16:creationId xmlns:a16="http://schemas.microsoft.com/office/drawing/2014/main" id="{82AC6E54-5162-4AE4-BA3D-D0B653945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14625"/>
            <a:ext cx="4191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478978007"/>
      </p:ext>
    </p:extLst>
  </p:cSld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2026-09-22T19:47:29.5470000Z</dcterms:created>
  <dcterms:modified xsi:type="dcterms:W3CDTF">2026-09-22T19:47:29.5470000Z</dcterms:modified>
</coreProperties>
</file>